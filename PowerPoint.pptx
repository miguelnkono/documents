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2" r:id="rId1"/>
  </p:sldMasterIdLst>
  <p:notesMasterIdLst>
    <p:notesMasterId r:id="rId22"/>
  </p:notesMasterIdLst>
  <p:handoutMasterIdLst>
    <p:handoutMasterId r:id="rId23"/>
  </p:handoutMasterIdLst>
  <p:sldIdLst>
    <p:sldId id="923" r:id="rId2"/>
    <p:sldId id="924" r:id="rId3"/>
    <p:sldId id="912" r:id="rId4"/>
    <p:sldId id="925" r:id="rId5"/>
    <p:sldId id="952" r:id="rId6"/>
    <p:sldId id="926" r:id="rId7"/>
    <p:sldId id="927" r:id="rId8"/>
    <p:sldId id="928" r:id="rId9"/>
    <p:sldId id="929" r:id="rId10"/>
    <p:sldId id="946" r:id="rId11"/>
    <p:sldId id="947" r:id="rId12"/>
    <p:sldId id="948" r:id="rId13"/>
    <p:sldId id="943" r:id="rId14"/>
    <p:sldId id="950" r:id="rId15"/>
    <p:sldId id="949" r:id="rId16"/>
    <p:sldId id="951" r:id="rId17"/>
    <p:sldId id="953" r:id="rId18"/>
    <p:sldId id="935" r:id="rId19"/>
    <p:sldId id="933" r:id="rId20"/>
    <p:sldId id="93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32FF"/>
    <a:srgbClr val="209991"/>
    <a:srgbClr val="9EC9BC"/>
    <a:srgbClr val="289C94"/>
    <a:srgbClr val="6600FF"/>
    <a:srgbClr val="209890"/>
    <a:srgbClr val="368E79"/>
    <a:srgbClr val="2F828D"/>
    <a:srgbClr val="DCC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6" autoAdjust="0"/>
    <p:restoredTop sz="92153" autoAdjust="0"/>
  </p:normalViewPr>
  <p:slideViewPr>
    <p:cSldViewPr snapToGrid="0">
      <p:cViewPr varScale="1">
        <p:scale>
          <a:sx n="68" d="100"/>
          <a:sy n="68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63E5-0765-4360-B843-E3226D2F2DF2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ABB04-7FC2-4470-9A2D-BFCB4BEBA8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5359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92BD1-1260-A047-8DC4-386B58D08C46}" type="datetimeFigureOut">
              <a:rPr lang="fr-FR" smtClean="0"/>
              <a:pPr/>
              <a:t>26/06/2025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505D2-3376-5C4C-9C4F-A45ABFD15B7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6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F505D2-3376-5C4C-9C4F-A45ABFD15B74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44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F505D2-3376-5C4C-9C4F-A45ABFD15B74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87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A2EEAF-0FBC-407A-9316-94940158678F}" type="datetime1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C3E98C-9F58-754F-94F8-08CCC5651AC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170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D69D20-55A7-43BD-AAC2-FB3C252D1912}" type="datetime1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1903A-58DF-6D41-AA0F-B39FBAFEBD29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539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BB7B77-D626-4422-980D-B2F5048BCEB0}" type="datetime1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6162D8-21B9-4E41-ACBC-BCF1ECED2C1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05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EA6461-DF1F-4377-915F-0FB45E88D0F1}" type="datetime1">
              <a:rPr lang="fr-FR" smtClean="0"/>
              <a:t>26/06/2025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EF2CB5-2B1E-C84B-9289-DA4929559AE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2127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964800-D5D1-4283-B8AF-66B9A674D220}" type="datetime1">
              <a:rPr lang="fr-FR" smtClean="0"/>
              <a:t>26/06/2025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551566-8545-CB46-ADE7-B880A41B0DA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5101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297948-A2E7-47D9-A523-919D37155437}" type="datetime1">
              <a:rPr lang="fr-FR" smtClean="0"/>
              <a:t>26/06/2025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51F895-C8DB-2743-A71F-A178E2BF771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395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D2B57E-D51F-4453-8285-197D57640D4C}" type="datetime1">
              <a:rPr lang="fr-FR" smtClean="0"/>
              <a:t>26/06/2025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79F25E-32BB-404F-86F6-FEFB1E8E849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761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C68953-C436-4C89-A269-BA1625AC2297}" type="datetime1">
              <a:rPr lang="fr-FR" smtClean="0"/>
              <a:t>26/06/2025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FF51B-AF0C-944B-BD46-99611870A16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95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51C6BC-F767-44FF-B696-FD0EE63E2063}" type="datetime1">
              <a:rPr lang="fr-FR" smtClean="0"/>
              <a:t>26/06/2025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DA0AE6-E0B4-8244-A59E-35AC1E894FD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780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572075-460F-4A0B-AA1F-FA55607E264A}" type="datetime1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AC6C1E-4FDD-2449-A3DB-18D3B4CC728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9347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8F873B-0F36-460F-B328-3146F2974C81}" type="datetime1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A2375-495B-1A4A-B9D4-E7D55650937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381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8DD398-979B-416E-9BDA-F422452BB71D}" type="datetime1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33AEAF-C40A-B448-88B5-BD4E004C15E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48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00B0F0"/>
            </a:gs>
            <a:gs pos="15000">
              <a:srgbClr val="C4DDD5"/>
            </a:gs>
            <a:gs pos="35000">
              <a:srgbClr val="FFFFFF"/>
            </a:gs>
            <a:gs pos="84000">
              <a:schemeClr val="bg1"/>
            </a:gs>
            <a:gs pos="7000">
              <a:srgbClr val="00B0F0"/>
            </a:gs>
            <a:gs pos="98000">
              <a:srgbClr val="00B0F0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86854" y="1593921"/>
            <a:ext cx="9752930" cy="395615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7200" b="1" i="1" smtClean="0">
                <a:latin typeface="Bahnschrift SemiLight Condensed" panose="020B0502040204020203" pitchFamily="34" charset="0"/>
                <a:ea typeface="Cambria" panose="02040503050406030204" pitchFamily="18" charset="0"/>
              </a:rPr>
              <a:t>WELCOME TO </a:t>
            </a:r>
            <a:br>
              <a:rPr lang="en-US" sz="7200" b="1" i="1" smtClean="0">
                <a:latin typeface="Bahnschrift SemiLight Condensed" panose="020B0502040204020203" pitchFamily="34" charset="0"/>
                <a:ea typeface="Cambria" panose="02040503050406030204" pitchFamily="18" charset="0"/>
              </a:rPr>
            </a:br>
            <a:r>
              <a:rPr lang="en-US" sz="7200" b="1" i="1" smtClean="0">
                <a:latin typeface="Bahnschrift SemiLight Condensed" panose="020B0502040204020203" pitchFamily="34" charset="0"/>
                <a:ea typeface="Cambria" panose="02040503050406030204" pitchFamily="18" charset="0"/>
              </a:rPr>
              <a:t>MY </a:t>
            </a:r>
            <a:br>
              <a:rPr lang="en-US" sz="7200" b="1" i="1" smtClean="0">
                <a:latin typeface="Bahnschrift SemiLight Condensed" panose="020B0502040204020203" pitchFamily="34" charset="0"/>
                <a:ea typeface="Cambria" panose="02040503050406030204" pitchFamily="18" charset="0"/>
              </a:rPr>
            </a:br>
            <a:r>
              <a:rPr lang="en-US" sz="7200" b="1" i="1" smtClean="0">
                <a:latin typeface="Bahnschrift SemiLight Condensed" panose="020B0502040204020203" pitchFamily="34" charset="0"/>
                <a:ea typeface="Cambria" panose="02040503050406030204" pitchFamily="18" charset="0"/>
              </a:rPr>
              <a:t>PRESENTATION</a:t>
            </a:r>
            <a:endParaRPr lang="fr-FR" sz="8000" b="1" i="1" dirty="0">
              <a:latin typeface="Bahnschrift SemiLight Condensed" panose="020B0502040204020203" pitchFamily="34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22EE983-FD19-426D-942D-5E38BFA8D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" y="2953509"/>
            <a:ext cx="2908372" cy="4176634"/>
          </a:xfrm>
          <a:prstGeom prst="rect">
            <a:avLst/>
          </a:prstGeom>
        </p:spPr>
      </p:pic>
      <p:sp>
        <p:nvSpPr>
          <p:cNvPr id="6" name="Rectangle à coins arrondis 5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0806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1997F1F4-77D7-4486-BDE8-FCD1D8E3F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462" y="389955"/>
            <a:ext cx="1622405" cy="1227863"/>
          </a:xfrm>
          <a:prstGeom prst="rect">
            <a:avLst/>
          </a:prstGeom>
        </p:spPr>
      </p:pic>
      <p:sp>
        <p:nvSpPr>
          <p:cNvPr id="11" name="Rectangle : coins arrondis 9">
            <a:extLst>
              <a:ext uri="{FF2B5EF4-FFF2-40B4-BE49-F238E27FC236}">
                <a16:creationId xmlns:a16="http://schemas.microsoft.com/office/drawing/2014/main" xmlns="" id="{2C85C700-E992-4C86-BD63-6606DA92D3A1}"/>
              </a:ext>
            </a:extLst>
          </p:cNvPr>
          <p:cNvSpPr/>
          <p:nvPr/>
        </p:nvSpPr>
        <p:spPr>
          <a:xfrm>
            <a:off x="540639" y="2942417"/>
            <a:ext cx="10776718" cy="1146522"/>
          </a:xfrm>
          <a:prstGeom prst="roundRect">
            <a:avLst/>
          </a:prstGeom>
          <a:solidFill>
            <a:srgbClr val="00B0F0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DIGITALIZATION OF THE CLINICAL PRACTICES IN THE INTENSIVE CARE SERVICE:CASE OF THE YAOUNDE GENERAL HOSPITAL</a:t>
            </a:r>
            <a:endParaRPr lang="fr-FR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443664" y="2319200"/>
            <a:ext cx="2779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THEME</a:t>
            </a:r>
            <a:endParaRPr lang="fr-FR" sz="20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11711263" y="6254459"/>
            <a:ext cx="450669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190249" y="64395"/>
            <a:ext cx="3406461" cy="2146377"/>
            <a:chOff x="1498791" y="38151"/>
            <a:chExt cx="3406461" cy="2146377"/>
          </a:xfrm>
        </p:grpSpPr>
        <p:sp>
          <p:nvSpPr>
            <p:cNvPr id="21" name="ZoneTexte 20"/>
            <p:cNvSpPr txBox="1"/>
            <p:nvPr/>
          </p:nvSpPr>
          <p:spPr>
            <a:xfrm>
              <a:off x="2047740" y="38151"/>
              <a:ext cx="2009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Republic of Cameroon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Peace– Work </a:t>
              </a: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en-US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Fatherland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1498791" y="707200"/>
              <a:ext cx="340646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AFRICAN INSTITUTE OF COMPUTER </a:t>
              </a:r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SCIENCE</a:t>
              </a:r>
              <a:endPara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 13719 </a:t>
              </a:r>
              <a:r>
                <a:rPr lang="fr-CM" sz="12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Yaounde</a:t>
              </a:r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Cameroon</a:t>
              </a:r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Tel :( 237) 242 72 99 57 / 242 72 99 58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Site: </a:t>
              </a:r>
              <a:r>
                <a:rPr lang="en-US" sz="1200" b="1" u="sng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www.iaicameroun.com</a:t>
              </a:r>
              <a:endParaRPr lang="fr-FR" sz="1200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: contact@iaicameroun.com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fr-FR" dirty="0"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93982912-1F21-4976-9389-2F0C9340BA30}"/>
              </a:ext>
            </a:extLst>
          </p:cNvPr>
          <p:cNvSpPr txBox="1"/>
          <p:nvPr/>
        </p:nvSpPr>
        <p:spPr>
          <a:xfrm>
            <a:off x="3302547" y="1933516"/>
            <a:ext cx="4616105" cy="377506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pPr algn="ctr"/>
            <a:r>
              <a:rPr lang="fr-CM" sz="32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PERSONAL  PROJECT</a:t>
            </a:r>
            <a:endParaRPr lang="fr-CM" sz="32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59E9DC1D-22D1-4D10-B44A-6E2226CCD2E1}"/>
              </a:ext>
            </a:extLst>
          </p:cNvPr>
          <p:cNvSpPr txBox="1"/>
          <p:nvPr/>
        </p:nvSpPr>
        <p:spPr>
          <a:xfrm>
            <a:off x="361476" y="4345347"/>
            <a:ext cx="11349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fr-FR" b="1" i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HOUMWEIN BLAG Helene</a:t>
            </a:r>
            <a:endParaRPr lang="fr-FR" b="1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Zone de texte 97"/>
          <p:cNvSpPr txBox="1"/>
          <p:nvPr/>
        </p:nvSpPr>
        <p:spPr>
          <a:xfrm>
            <a:off x="190249" y="4896478"/>
            <a:ext cx="3717492" cy="165975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Academic </a:t>
            </a:r>
            <a:r>
              <a:rPr lang="fr-FR" sz="18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fr-FR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Mrs. TCHOUTHOUO Emmanuelle Isabelle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1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AICS-Cameroon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Paul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Biya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Technological Center of Excellence</a:t>
            </a:r>
            <a:endParaRPr lang="fr-CM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Zone de texte 97"/>
          <p:cNvSpPr txBox="1"/>
          <p:nvPr/>
        </p:nvSpPr>
        <p:spPr>
          <a:xfrm>
            <a:off x="8252286" y="5084907"/>
            <a:ext cx="3458977" cy="153982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endParaRPr lang="fr-FR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4269358" y="6166323"/>
            <a:ext cx="3715658" cy="64484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A6842339-2689-2A6D-67D6-43DE6AFBC6E7}"/>
              </a:ext>
            </a:extLst>
          </p:cNvPr>
          <p:cNvSpPr txBox="1"/>
          <p:nvPr/>
        </p:nvSpPr>
        <p:spPr>
          <a:xfrm>
            <a:off x="4497914" y="6166323"/>
            <a:ext cx="348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2400" dirty="0">
                <a:solidFill>
                  <a:schemeClr val="bg1"/>
                </a:solidFill>
              </a:rPr>
              <a:t>Academic </a:t>
            </a:r>
            <a:r>
              <a:rPr lang="fr-CM" sz="2400" dirty="0" err="1">
                <a:solidFill>
                  <a:schemeClr val="bg1"/>
                </a:solidFill>
              </a:rPr>
              <a:t>Year</a:t>
            </a:r>
            <a:r>
              <a:rPr lang="fr-CM" sz="2400" dirty="0">
                <a:solidFill>
                  <a:schemeClr val="bg1"/>
                </a:solidFill>
              </a:rPr>
              <a:t>  </a:t>
            </a:r>
            <a:r>
              <a:rPr lang="fr-CM" sz="2400" dirty="0" smtClean="0">
                <a:solidFill>
                  <a:schemeClr val="bg1"/>
                </a:solidFill>
              </a:rPr>
              <a:t>2024/2025</a:t>
            </a:r>
            <a:endParaRPr lang="fr-CM" sz="2400" dirty="0">
              <a:solidFill>
                <a:schemeClr val="bg1"/>
              </a:solidFill>
            </a:endParaRPr>
          </a:p>
        </p:txBody>
      </p:sp>
      <p:grpSp>
        <p:nvGrpSpPr>
          <p:cNvPr id="27" name="Groupe 26"/>
          <p:cNvGrpSpPr/>
          <p:nvPr/>
        </p:nvGrpSpPr>
        <p:grpSpPr>
          <a:xfrm>
            <a:off x="8174620" y="272647"/>
            <a:ext cx="3406461" cy="2146377"/>
            <a:chOff x="1498791" y="38151"/>
            <a:chExt cx="3406461" cy="2146377"/>
          </a:xfrm>
        </p:grpSpPr>
        <p:sp>
          <p:nvSpPr>
            <p:cNvPr id="29" name="ZoneTexte 28"/>
            <p:cNvSpPr txBox="1"/>
            <p:nvPr/>
          </p:nvSpPr>
          <p:spPr>
            <a:xfrm>
              <a:off x="2047740" y="38151"/>
              <a:ext cx="2009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Republic of Cameroon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Peace– Work </a:t>
              </a: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en-US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Fatherland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1498791" y="707200"/>
              <a:ext cx="340646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AFRICAN INSTITUTE OF COMPUTER </a:t>
              </a:r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SCIENCE</a:t>
              </a:r>
              <a:endPara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 13719 </a:t>
              </a:r>
              <a:r>
                <a:rPr lang="fr-CM" sz="12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Yaounde</a:t>
              </a:r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fr-CM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Cameroon</a:t>
              </a:r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Tel :( 237) 242 72 99 57 / 242 72 99 58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Site: </a:t>
              </a:r>
              <a:r>
                <a:rPr lang="en-US" sz="1200" b="1" u="sng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www.iaicameroun.com</a:t>
              </a:r>
              <a:endParaRPr lang="fr-FR" sz="1200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: contact@iaicameroun.com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204219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5000">
              <a:schemeClr val="bg1"/>
            </a:gs>
            <a:gs pos="100000">
              <a:srgbClr val="00B0F0"/>
            </a:gs>
            <a:gs pos="0">
              <a:srgbClr val="368E79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/>
        </p:nvGrpSpPr>
        <p:grpSpPr>
          <a:xfrm>
            <a:off x="928913" y="99043"/>
            <a:ext cx="10685027" cy="1322271"/>
            <a:chOff x="381349" y="99043"/>
            <a:chExt cx="11232592" cy="1322271"/>
          </a:xfrm>
        </p:grpSpPr>
        <p:sp>
          <p:nvSpPr>
            <p:cNvPr id="13" name="Signalisation droite 5">
              <a:extLst>
                <a:ext uri="{FF2B5EF4-FFF2-40B4-BE49-F238E27FC236}">
                  <a16:creationId xmlns:a16="http://schemas.microsoft.com/office/drawing/2014/main" xmlns="" id="{3C3A67F8-D515-42AE-ABBE-C3EA26B2BBAF}"/>
                </a:ext>
              </a:extLst>
            </p:cNvPr>
            <p:cNvSpPr/>
            <p:nvPr/>
          </p:nvSpPr>
          <p:spPr>
            <a:xfrm rot="10800000">
              <a:off x="381349" y="99043"/>
              <a:ext cx="11232592" cy="923525"/>
            </a:xfrm>
            <a:prstGeom prst="homePlate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CM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" name="ZoneTexte 1"/>
            <p:cNvSpPr txBox="1"/>
            <p:nvPr/>
          </p:nvSpPr>
          <p:spPr>
            <a:xfrm>
              <a:off x="5486397" y="220985"/>
              <a:ext cx="20574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fr-FR" sz="5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PLAN</a:t>
              </a:r>
              <a:endParaRPr lang="fr-FR" altLang="fr-FR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orbel" panose="020B0503020204020204" pitchFamily="34" charset="0"/>
              </a:endParaRPr>
            </a:p>
            <a:p>
              <a:endParaRPr lang="fr-FR" dirty="0"/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3153587" y="1143965"/>
            <a:ext cx="8132261" cy="597789"/>
            <a:chOff x="2560320" y="1390679"/>
            <a:chExt cx="7527578" cy="738409"/>
          </a:xfrm>
        </p:grpSpPr>
        <p:sp>
          <p:nvSpPr>
            <p:cNvPr id="15" name="Rectangle : carré corné 14">
              <a:extLst>
                <a:ext uri="{FF2B5EF4-FFF2-40B4-BE49-F238E27FC236}">
                  <a16:creationId xmlns:a16="http://schemas.microsoft.com/office/drawing/2014/main" xmlns="" id="{753FD64B-2E41-42F9-85AB-5C001DCBB501}"/>
                </a:ext>
              </a:extLst>
            </p:cNvPr>
            <p:cNvSpPr/>
            <p:nvPr/>
          </p:nvSpPr>
          <p:spPr>
            <a:xfrm>
              <a:off x="3417570" y="1478016"/>
              <a:ext cx="6670328" cy="651072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FR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INTRODUCTION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Pentagone régulier 3"/>
            <p:cNvSpPr/>
            <p:nvPr/>
          </p:nvSpPr>
          <p:spPr>
            <a:xfrm>
              <a:off x="2560320" y="1390679"/>
              <a:ext cx="822056" cy="705005"/>
            </a:xfrm>
            <a:prstGeom prst="pentagon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2524189" y="1887382"/>
            <a:ext cx="8934386" cy="776183"/>
            <a:chOff x="1999401" y="2215957"/>
            <a:chExt cx="7415256" cy="801109"/>
          </a:xfrm>
        </p:grpSpPr>
        <p:sp>
          <p:nvSpPr>
            <p:cNvPr id="16" name="Rectangle : carré corné 15">
              <a:extLst>
                <a:ext uri="{FF2B5EF4-FFF2-40B4-BE49-F238E27FC236}">
                  <a16:creationId xmlns:a16="http://schemas.microsoft.com/office/drawing/2014/main" xmlns="" id="{A896F18F-EF80-497D-B568-978681C51064}"/>
                </a:ext>
              </a:extLst>
            </p:cNvPr>
            <p:cNvSpPr/>
            <p:nvPr/>
          </p:nvSpPr>
          <p:spPr>
            <a:xfrm>
              <a:off x="2508935" y="2215957"/>
              <a:ext cx="6905722" cy="698229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CM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CONTEXT AND CRITICISM OF THE EXISTING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Pentagone régulier 13"/>
            <p:cNvSpPr/>
            <p:nvPr/>
          </p:nvSpPr>
          <p:spPr>
            <a:xfrm>
              <a:off x="1999401" y="2374788"/>
              <a:ext cx="509534" cy="642278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2402275" y="3490912"/>
            <a:ext cx="8826165" cy="740702"/>
            <a:chOff x="2551865" y="3997080"/>
            <a:chExt cx="7458752" cy="662082"/>
          </a:xfrm>
        </p:grpSpPr>
        <p:sp>
          <p:nvSpPr>
            <p:cNvPr id="17" name="Rectangle : carré corné 16">
              <a:extLst>
                <a:ext uri="{FF2B5EF4-FFF2-40B4-BE49-F238E27FC236}">
                  <a16:creationId xmlns:a16="http://schemas.microsoft.com/office/drawing/2014/main" xmlns="" id="{DF4528F6-D18A-41A1-92CD-59607F334081}"/>
                </a:ext>
              </a:extLst>
            </p:cNvPr>
            <p:cNvSpPr/>
            <p:nvPr/>
          </p:nvSpPr>
          <p:spPr>
            <a:xfrm>
              <a:off x="3304191" y="4134283"/>
              <a:ext cx="6706426" cy="524879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CM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METHODOLOGY AND ARCHITECTURE USED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Pentagone régulier 19"/>
            <p:cNvSpPr/>
            <p:nvPr/>
          </p:nvSpPr>
          <p:spPr>
            <a:xfrm>
              <a:off x="2551865" y="3997080"/>
              <a:ext cx="683599" cy="587543"/>
            </a:xfrm>
            <a:prstGeom prst="pentagon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4</a:t>
              </a: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2503576" y="4357099"/>
            <a:ext cx="8782272" cy="678667"/>
            <a:chOff x="2464382" y="4511023"/>
            <a:chExt cx="7348970" cy="705005"/>
          </a:xfrm>
        </p:grpSpPr>
        <p:sp>
          <p:nvSpPr>
            <p:cNvPr id="18" name="Rectangle : carré corné 17">
              <a:extLst>
                <a:ext uri="{FF2B5EF4-FFF2-40B4-BE49-F238E27FC236}">
                  <a16:creationId xmlns:a16="http://schemas.microsoft.com/office/drawing/2014/main" xmlns="" id="{B133C669-27D5-45CF-8A7F-7D124D68993E}"/>
                </a:ext>
              </a:extLst>
            </p:cNvPr>
            <p:cNvSpPr/>
            <p:nvPr/>
          </p:nvSpPr>
          <p:spPr>
            <a:xfrm>
              <a:off x="3726357" y="4544731"/>
              <a:ext cx="6086995" cy="462820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fr-CM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TECHNOLOGY USED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Pentagone régulier 20"/>
            <p:cNvSpPr/>
            <p:nvPr/>
          </p:nvSpPr>
          <p:spPr>
            <a:xfrm>
              <a:off x="2464382" y="4511023"/>
              <a:ext cx="822056" cy="705005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5</a:t>
              </a: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2591837" y="5079810"/>
            <a:ext cx="9022104" cy="563846"/>
            <a:chOff x="2559416" y="5334415"/>
            <a:chExt cx="7528482" cy="705005"/>
          </a:xfrm>
        </p:grpSpPr>
        <p:sp>
          <p:nvSpPr>
            <p:cNvPr id="19" name="Rectangle : carré corné 18">
              <a:extLst>
                <a:ext uri="{FF2B5EF4-FFF2-40B4-BE49-F238E27FC236}">
                  <a16:creationId xmlns:a16="http://schemas.microsoft.com/office/drawing/2014/main" xmlns="" id="{EB2F4C12-F230-4202-9F6A-E5D4460F7F8B}"/>
                </a:ext>
              </a:extLst>
            </p:cNvPr>
            <p:cNvSpPr/>
            <p:nvPr/>
          </p:nvSpPr>
          <p:spPr>
            <a:xfrm>
              <a:off x="3969531" y="5355192"/>
              <a:ext cx="6118367" cy="663452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DEMONSTRATION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" name="Pentagone régulier 21"/>
            <p:cNvSpPr/>
            <p:nvPr/>
          </p:nvSpPr>
          <p:spPr>
            <a:xfrm>
              <a:off x="2559416" y="5334415"/>
              <a:ext cx="822056" cy="705005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6</a:t>
              </a:r>
            </a:p>
          </p:txBody>
        </p:sp>
      </p:grpSp>
      <p:sp>
        <p:nvSpPr>
          <p:cNvPr id="23" name="Rectangle à coins arrondis 22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grpSp>
        <p:nvGrpSpPr>
          <p:cNvPr id="24" name="Groupe 23"/>
          <p:cNvGrpSpPr/>
          <p:nvPr/>
        </p:nvGrpSpPr>
        <p:grpSpPr>
          <a:xfrm>
            <a:off x="2171498" y="5806162"/>
            <a:ext cx="9287077" cy="806071"/>
            <a:chOff x="2533151" y="5058757"/>
            <a:chExt cx="7528482" cy="834050"/>
          </a:xfrm>
        </p:grpSpPr>
        <p:sp>
          <p:nvSpPr>
            <p:cNvPr id="25" name="Rectangle : carré corné 18">
              <a:extLst>
                <a:ext uri="{FF2B5EF4-FFF2-40B4-BE49-F238E27FC236}">
                  <a16:creationId xmlns:a16="http://schemas.microsoft.com/office/drawing/2014/main" xmlns="" id="{EB2F4C12-F230-4202-9F6A-E5D4460F7F8B}"/>
                </a:ext>
              </a:extLst>
            </p:cNvPr>
            <p:cNvSpPr/>
            <p:nvPr/>
          </p:nvSpPr>
          <p:spPr>
            <a:xfrm>
              <a:off x="3890802" y="5285011"/>
              <a:ext cx="6170831" cy="522497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FR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CONCLUSION </a:t>
              </a:r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AND OUTLOOK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Pentagone régulier 26"/>
            <p:cNvSpPr/>
            <p:nvPr/>
          </p:nvSpPr>
          <p:spPr>
            <a:xfrm>
              <a:off x="2533151" y="5058757"/>
              <a:ext cx="822056" cy="834050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7</a:t>
              </a:r>
            </a:p>
          </p:txBody>
        </p:sp>
      </p:grpSp>
      <p:grpSp>
        <p:nvGrpSpPr>
          <p:cNvPr id="26" name="Groupe 25"/>
          <p:cNvGrpSpPr/>
          <p:nvPr/>
        </p:nvGrpSpPr>
        <p:grpSpPr>
          <a:xfrm>
            <a:off x="3009691" y="2746714"/>
            <a:ext cx="8993623" cy="647410"/>
            <a:chOff x="1999401" y="2284416"/>
            <a:chExt cx="7160490" cy="732650"/>
          </a:xfrm>
        </p:grpSpPr>
        <p:sp>
          <p:nvSpPr>
            <p:cNvPr id="28" name="Rectangle : carré corné 15">
              <a:extLst>
                <a:ext uri="{FF2B5EF4-FFF2-40B4-BE49-F238E27FC236}">
                  <a16:creationId xmlns:a16="http://schemas.microsoft.com/office/drawing/2014/main" xmlns="" id="{A896F18F-EF80-497D-B568-978681C51064}"/>
                </a:ext>
              </a:extLst>
            </p:cNvPr>
            <p:cNvSpPr/>
            <p:nvPr/>
          </p:nvSpPr>
          <p:spPr>
            <a:xfrm>
              <a:off x="2508935" y="2284416"/>
              <a:ext cx="6650956" cy="629770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2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PROBLEMATIC </a:t>
              </a:r>
              <a:r>
                <a:rPr lang="fr-FR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AND</a:t>
              </a:r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SOLUTIONS PROPOSED</a:t>
              </a:r>
              <a:endParaRPr lang="fr-FR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Pentagone régulier 28"/>
            <p:cNvSpPr/>
            <p:nvPr/>
          </p:nvSpPr>
          <p:spPr>
            <a:xfrm>
              <a:off x="1999401" y="2374788"/>
              <a:ext cx="509534" cy="642278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</a:p>
          </p:txBody>
        </p:sp>
      </p:grp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20" y="966565"/>
            <a:ext cx="1818310" cy="558966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1536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76">
              <a:schemeClr val="bg1"/>
            </a:gs>
            <a:gs pos="75000">
              <a:schemeClr val="bg1"/>
            </a:gs>
            <a:gs pos="91000">
              <a:srgbClr val="00B0F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1903A-58DF-6D41-AA0F-B39FBAFEBD29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xmlns="" id="{95504EEF-9FFF-4C9F-9F16-51EAA47DED1B}"/>
              </a:ext>
            </a:extLst>
          </p:cNvPr>
          <p:cNvGrpSpPr/>
          <p:nvPr/>
        </p:nvGrpSpPr>
        <p:grpSpPr>
          <a:xfrm>
            <a:off x="838200" y="130456"/>
            <a:ext cx="10465377" cy="668256"/>
            <a:chOff x="413054" y="135497"/>
            <a:chExt cx="12187464" cy="972114"/>
          </a:xfrm>
          <a:solidFill>
            <a:srgbClr val="00B050"/>
          </a:solidFill>
        </p:grpSpPr>
        <p:sp>
          <p:nvSpPr>
            <p:cNvPr id="9" name="Signalisation droite 5">
              <a:extLst>
                <a:ext uri="{FF2B5EF4-FFF2-40B4-BE49-F238E27FC236}">
                  <a16:creationId xmlns:a16="http://schemas.microsoft.com/office/drawing/2014/main" xmlns="" id="{BE092505-8B09-B74D-AB5D-F737400CEEDB}"/>
                </a:ext>
              </a:extLst>
            </p:cNvPr>
            <p:cNvSpPr/>
            <p:nvPr/>
          </p:nvSpPr>
          <p:spPr>
            <a:xfrm>
              <a:off x="1675629" y="135497"/>
              <a:ext cx="10924889" cy="923525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2800" b="1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CONTEXT AND CRITICISM OF THE  EXISTING  </a:t>
              </a:r>
              <a:endParaRPr lang="fr-FR" sz="28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Larme 9">
              <a:extLst>
                <a:ext uri="{FF2B5EF4-FFF2-40B4-BE49-F238E27FC236}">
                  <a16:creationId xmlns:a16="http://schemas.microsoft.com/office/drawing/2014/main" xmlns="" id="{D9D66D36-2DC1-4453-91F8-DFC07EE7998C}"/>
                </a:ext>
              </a:extLst>
            </p:cNvPr>
            <p:cNvSpPr/>
            <p:nvPr/>
          </p:nvSpPr>
          <p:spPr>
            <a:xfrm>
              <a:off x="413054" y="184084"/>
              <a:ext cx="1262573" cy="923527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/>
                <a:t>2</a:t>
              </a:r>
            </a:p>
          </p:txBody>
        </p:sp>
      </p:grpSp>
      <p:sp>
        <p:nvSpPr>
          <p:cNvPr id="11" name="Rectangle à coins arrondis 10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46" name="Freeform: Shape 3">
            <a:extLst>
              <a:ext uri="{FF2B5EF4-FFF2-40B4-BE49-F238E27FC236}">
                <a16:creationId xmlns:a16="http://schemas.microsoft.com/office/drawing/2014/main" xmlns="" id="{7BD3447E-8CAF-43CA-A07C-CB6BC59AA802}"/>
              </a:ext>
            </a:extLst>
          </p:cNvPr>
          <p:cNvSpPr/>
          <p:nvPr/>
        </p:nvSpPr>
        <p:spPr>
          <a:xfrm>
            <a:off x="2757487" y="842867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6">
            <a:extLst>
              <a:ext uri="{FF2B5EF4-FFF2-40B4-BE49-F238E27FC236}">
                <a16:creationId xmlns:a16="http://schemas.microsoft.com/office/drawing/2014/main" xmlns="" id="{EDA546CF-914A-4426-B11D-3919F41A59EA}"/>
              </a:ext>
            </a:extLst>
          </p:cNvPr>
          <p:cNvSpPr/>
          <p:nvPr/>
        </p:nvSpPr>
        <p:spPr>
          <a:xfrm>
            <a:off x="8958453" y="37861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7">
            <a:extLst>
              <a:ext uri="{FF2B5EF4-FFF2-40B4-BE49-F238E27FC236}">
                <a16:creationId xmlns:a16="http://schemas.microsoft.com/office/drawing/2014/main" xmlns="" id="{1FCD6B85-82E9-410C-8E59-64B9481EDCF1}"/>
              </a:ext>
            </a:extLst>
          </p:cNvPr>
          <p:cNvSpPr/>
          <p:nvPr/>
        </p:nvSpPr>
        <p:spPr>
          <a:xfrm>
            <a:off x="11210829" y="2655760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2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8" y="222218"/>
                  <a:pt x="7142" y="174072"/>
                  <a:pt x="7142" y="114681"/>
                </a:cubicBezTo>
                <a:cubicBezTo>
                  <a:pt x="7142" y="55290"/>
                  <a:pt x="55288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8">
            <a:extLst>
              <a:ext uri="{FF2B5EF4-FFF2-40B4-BE49-F238E27FC236}">
                <a16:creationId xmlns:a16="http://schemas.microsoft.com/office/drawing/2014/main" xmlns="" id="{E3E8262C-BC44-4675-B7C1-A150CE5D2971}"/>
              </a:ext>
            </a:extLst>
          </p:cNvPr>
          <p:cNvSpPr/>
          <p:nvPr/>
        </p:nvSpPr>
        <p:spPr>
          <a:xfrm>
            <a:off x="11357514" y="59378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9">
            <a:extLst>
              <a:ext uri="{FF2B5EF4-FFF2-40B4-BE49-F238E27FC236}">
                <a16:creationId xmlns:a16="http://schemas.microsoft.com/office/drawing/2014/main" xmlns="" id="{3D22F762-F471-4FEB-B5A0-651DE466D74A}"/>
              </a:ext>
            </a:extLst>
          </p:cNvPr>
          <p:cNvSpPr/>
          <p:nvPr/>
        </p:nvSpPr>
        <p:spPr>
          <a:xfrm>
            <a:off x="6815137" y="624811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3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11">
            <a:extLst>
              <a:ext uri="{FF2B5EF4-FFF2-40B4-BE49-F238E27FC236}">
                <a16:creationId xmlns:a16="http://schemas.microsoft.com/office/drawing/2014/main" xmlns="" id="{309D5100-7807-4B85-8FDA-6A93CB7262D3}"/>
              </a:ext>
            </a:extLst>
          </p:cNvPr>
          <p:cNvSpPr/>
          <p:nvPr/>
        </p:nvSpPr>
        <p:spPr>
          <a:xfrm>
            <a:off x="11357514" y="5301900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26">
            <a:extLst>
              <a:ext uri="{FF2B5EF4-FFF2-40B4-BE49-F238E27FC236}">
                <a16:creationId xmlns:a16="http://schemas.microsoft.com/office/drawing/2014/main" xmlns="" id="{D10BBD29-E26D-4DC4-AA36-9E917733ADF2}"/>
              </a:ext>
            </a:extLst>
          </p:cNvPr>
          <p:cNvGrpSpPr/>
          <p:nvPr/>
        </p:nvGrpSpPr>
        <p:grpSpPr>
          <a:xfrm>
            <a:off x="4085304" y="1964901"/>
            <a:ext cx="3376806" cy="2725086"/>
            <a:chOff x="4623149" y="2458974"/>
            <a:chExt cx="2825020" cy="2868263"/>
          </a:xfrm>
        </p:grpSpPr>
        <p:grpSp>
          <p:nvGrpSpPr>
            <p:cNvPr id="53" name="Group 25">
              <a:extLst>
                <a:ext uri="{FF2B5EF4-FFF2-40B4-BE49-F238E27FC236}">
                  <a16:creationId xmlns:a16="http://schemas.microsoft.com/office/drawing/2014/main" xmlns="" id="{55C84584-59D0-404C-9118-C5E4522DD1A0}"/>
                </a:ext>
              </a:extLst>
            </p:cNvPr>
            <p:cNvGrpSpPr/>
            <p:nvPr/>
          </p:nvGrpSpPr>
          <p:grpSpPr>
            <a:xfrm>
              <a:off x="4700301" y="2545365"/>
              <a:ext cx="2671762" cy="2696433"/>
              <a:chOff x="4700301" y="2545365"/>
              <a:chExt cx="2671762" cy="2696433"/>
            </a:xfrm>
          </p:grpSpPr>
          <p:sp>
            <p:nvSpPr>
              <p:cNvPr id="61" name="Freeform: Shape 12">
                <a:extLst>
                  <a:ext uri="{FF2B5EF4-FFF2-40B4-BE49-F238E27FC236}">
                    <a16:creationId xmlns:a16="http://schemas.microsoft.com/office/drawing/2014/main" xmlns="" id="{5CE6A726-B200-4A3C-AC94-09D437B612C9}"/>
                  </a:ext>
                </a:extLst>
              </p:cNvPr>
              <p:cNvSpPr/>
              <p:nvPr/>
            </p:nvSpPr>
            <p:spPr>
              <a:xfrm>
                <a:off x="4700301" y="3228784"/>
                <a:ext cx="523875" cy="619125"/>
              </a:xfrm>
              <a:custGeom>
                <a:avLst/>
                <a:gdLst>
                  <a:gd name="connsiteX0" fmla="*/ 524542 w 523875"/>
                  <a:gd name="connsiteY0" fmla="*/ 211455 h 619125"/>
                  <a:gd name="connsiteX1" fmla="*/ 415766 w 523875"/>
                  <a:gd name="connsiteY1" fmla="*/ 617791 h 619125"/>
                  <a:gd name="connsiteX2" fmla="*/ 7144 w 523875"/>
                  <a:gd name="connsiteY2" fmla="*/ 617791 h 619125"/>
                  <a:gd name="connsiteX3" fmla="*/ 170593 w 523875"/>
                  <a:gd name="connsiteY3" fmla="*/ 7144 h 619125"/>
                  <a:gd name="connsiteX4" fmla="*/ 524542 w 523875"/>
                  <a:gd name="connsiteY4" fmla="*/ 211455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3875" h="619125">
                    <a:moveTo>
                      <a:pt x="524542" y="211455"/>
                    </a:moveTo>
                    <a:cubicBezTo>
                      <a:pt x="455390" y="330994"/>
                      <a:pt x="415766" y="469773"/>
                      <a:pt x="415766" y="617791"/>
                    </a:cubicBezTo>
                    <a:lnTo>
                      <a:pt x="7144" y="617791"/>
                    </a:lnTo>
                    <a:cubicBezTo>
                      <a:pt x="7144" y="395288"/>
                      <a:pt x="66580" y="186785"/>
                      <a:pt x="170593" y="7144"/>
                    </a:cubicBezTo>
                    <a:lnTo>
                      <a:pt x="524542" y="211455"/>
                    </a:lnTo>
                    <a:close/>
                  </a:path>
                </a:pathLst>
              </a:custGeom>
              <a:solidFill>
                <a:srgbClr val="6C758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13">
                <a:extLst>
                  <a:ext uri="{FF2B5EF4-FFF2-40B4-BE49-F238E27FC236}">
                    <a16:creationId xmlns:a16="http://schemas.microsoft.com/office/drawing/2014/main" xmlns="" id="{2AA40B16-2901-4D0A-A185-FD75B2DB61B1}"/>
                  </a:ext>
                </a:extLst>
              </p:cNvPr>
              <p:cNvSpPr/>
              <p:nvPr/>
            </p:nvSpPr>
            <p:spPr>
              <a:xfrm>
                <a:off x="5383815" y="2545365"/>
                <a:ext cx="619125" cy="523875"/>
              </a:xfrm>
              <a:custGeom>
                <a:avLst/>
                <a:gdLst>
                  <a:gd name="connsiteX0" fmla="*/ 617696 w 619125"/>
                  <a:gd name="connsiteY0" fmla="*/ 7144 h 523875"/>
                  <a:gd name="connsiteX1" fmla="*/ 617696 w 619125"/>
                  <a:gd name="connsiteY1" fmla="*/ 415766 h 523875"/>
                  <a:gd name="connsiteX2" fmla="*/ 211455 w 619125"/>
                  <a:gd name="connsiteY2" fmla="*/ 524542 h 523875"/>
                  <a:gd name="connsiteX3" fmla="*/ 7144 w 619125"/>
                  <a:gd name="connsiteY3" fmla="*/ 170593 h 523875"/>
                  <a:gd name="connsiteX4" fmla="*/ 617696 w 619125"/>
                  <a:gd name="connsiteY4" fmla="*/ 7144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5" h="523875">
                    <a:moveTo>
                      <a:pt x="617696" y="7144"/>
                    </a:moveTo>
                    <a:lnTo>
                      <a:pt x="617696" y="415766"/>
                    </a:lnTo>
                    <a:cubicBezTo>
                      <a:pt x="469773" y="415766"/>
                      <a:pt x="330898" y="455295"/>
                      <a:pt x="211455" y="524542"/>
                    </a:cubicBezTo>
                    <a:lnTo>
                      <a:pt x="7144" y="170593"/>
                    </a:lnTo>
                    <a:cubicBezTo>
                      <a:pt x="186690" y="66675"/>
                      <a:pt x="395287" y="7144"/>
                      <a:pt x="617696" y="7144"/>
                    </a:cubicBezTo>
                    <a:close/>
                  </a:path>
                </a:pathLst>
              </a:custGeom>
              <a:solidFill>
                <a:srgbClr val="FFDF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14">
                <a:extLst>
                  <a:ext uri="{FF2B5EF4-FFF2-40B4-BE49-F238E27FC236}">
                    <a16:creationId xmlns:a16="http://schemas.microsoft.com/office/drawing/2014/main" xmlns="" id="{C91C9C5E-5ED9-4F90-98F0-649769562F1D}"/>
                  </a:ext>
                </a:extLst>
              </p:cNvPr>
              <p:cNvSpPr/>
              <p:nvPr/>
            </p:nvSpPr>
            <p:spPr>
              <a:xfrm>
                <a:off x="6515862" y="2734341"/>
                <a:ext cx="657225" cy="657225"/>
              </a:xfrm>
              <a:custGeom>
                <a:avLst/>
                <a:gdLst>
                  <a:gd name="connsiteX0" fmla="*/ 658558 w 657225"/>
                  <a:gd name="connsiteY0" fmla="*/ 454247 h 657225"/>
                  <a:gd name="connsiteX1" fmla="*/ 304609 w 657225"/>
                  <a:gd name="connsiteY1" fmla="*/ 658558 h 657225"/>
                  <a:gd name="connsiteX2" fmla="*/ 7144 w 657225"/>
                  <a:gd name="connsiteY2" fmla="*/ 361093 h 657225"/>
                  <a:gd name="connsiteX3" fmla="*/ 211455 w 657225"/>
                  <a:gd name="connsiteY3" fmla="*/ 7144 h 657225"/>
                  <a:gd name="connsiteX4" fmla="*/ 658558 w 657225"/>
                  <a:gd name="connsiteY4" fmla="*/ 454247 h 657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7225" h="657225">
                    <a:moveTo>
                      <a:pt x="658558" y="454247"/>
                    </a:moveTo>
                    <a:lnTo>
                      <a:pt x="304609" y="658558"/>
                    </a:lnTo>
                    <a:cubicBezTo>
                      <a:pt x="233363" y="535305"/>
                      <a:pt x="130493" y="432435"/>
                      <a:pt x="7144" y="361093"/>
                    </a:cubicBezTo>
                    <a:lnTo>
                      <a:pt x="211455" y="7144"/>
                    </a:lnTo>
                    <a:cubicBezTo>
                      <a:pt x="396907" y="114300"/>
                      <a:pt x="551402" y="268891"/>
                      <a:pt x="658558" y="454247"/>
                    </a:cubicBezTo>
                    <a:close/>
                  </a:path>
                </a:pathLst>
              </a:custGeom>
              <a:solidFill>
                <a:srgbClr val="749CE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18">
                <a:extLst>
                  <a:ext uri="{FF2B5EF4-FFF2-40B4-BE49-F238E27FC236}">
                    <a16:creationId xmlns:a16="http://schemas.microsoft.com/office/drawing/2014/main" xmlns="" id="{26AFBA53-5298-47D4-91E3-422F40681200}"/>
                  </a:ext>
                </a:extLst>
              </p:cNvPr>
              <p:cNvSpPr/>
              <p:nvPr/>
            </p:nvSpPr>
            <p:spPr>
              <a:xfrm>
                <a:off x="6848188" y="3941254"/>
                <a:ext cx="523875" cy="619125"/>
              </a:xfrm>
              <a:custGeom>
                <a:avLst/>
                <a:gdLst>
                  <a:gd name="connsiteX0" fmla="*/ 7144 w 523875"/>
                  <a:gd name="connsiteY0" fmla="*/ 413480 h 619125"/>
                  <a:gd name="connsiteX1" fmla="*/ 115920 w 523875"/>
                  <a:gd name="connsiteY1" fmla="*/ 7144 h 619125"/>
                  <a:gd name="connsiteX2" fmla="*/ 524542 w 523875"/>
                  <a:gd name="connsiteY2" fmla="*/ 7144 h 619125"/>
                  <a:gd name="connsiteX3" fmla="*/ 361093 w 523875"/>
                  <a:gd name="connsiteY3" fmla="*/ 617792 h 619125"/>
                  <a:gd name="connsiteX4" fmla="*/ 7144 w 523875"/>
                  <a:gd name="connsiteY4" fmla="*/ 41348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3875" h="619125">
                    <a:moveTo>
                      <a:pt x="7144" y="413480"/>
                    </a:moveTo>
                    <a:cubicBezTo>
                      <a:pt x="76295" y="293942"/>
                      <a:pt x="115920" y="155162"/>
                      <a:pt x="115920" y="7144"/>
                    </a:cubicBezTo>
                    <a:lnTo>
                      <a:pt x="524542" y="7144"/>
                    </a:lnTo>
                    <a:cubicBezTo>
                      <a:pt x="524542" y="229648"/>
                      <a:pt x="465106" y="438150"/>
                      <a:pt x="361093" y="617792"/>
                    </a:cubicBezTo>
                    <a:lnTo>
                      <a:pt x="7144" y="413480"/>
                    </a:lnTo>
                    <a:close/>
                  </a:path>
                </a:pathLst>
              </a:custGeom>
              <a:solidFill>
                <a:srgbClr val="6C758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19">
                <a:extLst>
                  <a:ext uri="{FF2B5EF4-FFF2-40B4-BE49-F238E27FC236}">
                    <a16:creationId xmlns:a16="http://schemas.microsoft.com/office/drawing/2014/main" xmlns="" id="{A634E309-95DA-4EA6-A836-2ECC2CDBE61B}"/>
                  </a:ext>
                </a:extLst>
              </p:cNvPr>
              <p:cNvSpPr/>
              <p:nvPr/>
            </p:nvSpPr>
            <p:spPr>
              <a:xfrm>
                <a:off x="6071520" y="4717923"/>
                <a:ext cx="619125" cy="523875"/>
              </a:xfrm>
              <a:custGeom>
                <a:avLst/>
                <a:gdLst>
                  <a:gd name="connsiteX0" fmla="*/ 7144 w 619125"/>
                  <a:gd name="connsiteY0" fmla="*/ 524542 h 523875"/>
                  <a:gd name="connsiteX1" fmla="*/ 7144 w 619125"/>
                  <a:gd name="connsiteY1" fmla="*/ 115919 h 523875"/>
                  <a:gd name="connsiteX2" fmla="*/ 413385 w 619125"/>
                  <a:gd name="connsiteY2" fmla="*/ 7144 h 523875"/>
                  <a:gd name="connsiteX3" fmla="*/ 617697 w 619125"/>
                  <a:gd name="connsiteY3" fmla="*/ 361093 h 523875"/>
                  <a:gd name="connsiteX4" fmla="*/ 7144 w 619125"/>
                  <a:gd name="connsiteY4" fmla="*/ 524542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5" h="523875">
                    <a:moveTo>
                      <a:pt x="7144" y="524542"/>
                    </a:moveTo>
                    <a:lnTo>
                      <a:pt x="7144" y="115919"/>
                    </a:lnTo>
                    <a:cubicBezTo>
                      <a:pt x="155067" y="115919"/>
                      <a:pt x="293941" y="76390"/>
                      <a:pt x="413385" y="7144"/>
                    </a:cubicBezTo>
                    <a:lnTo>
                      <a:pt x="617697" y="361093"/>
                    </a:lnTo>
                    <a:cubicBezTo>
                      <a:pt x="438055" y="465106"/>
                      <a:pt x="229553" y="524542"/>
                      <a:pt x="7144" y="524542"/>
                    </a:cubicBezTo>
                    <a:close/>
                  </a:path>
                </a:pathLst>
              </a:custGeom>
              <a:solidFill>
                <a:srgbClr val="FFDF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20">
                <a:extLst>
                  <a:ext uri="{FF2B5EF4-FFF2-40B4-BE49-F238E27FC236}">
                    <a16:creationId xmlns:a16="http://schemas.microsoft.com/office/drawing/2014/main" xmlns="" id="{0C660A7F-6014-451B-ADE7-0981574B3211}"/>
                  </a:ext>
                </a:extLst>
              </p:cNvPr>
              <p:cNvSpPr/>
              <p:nvPr/>
            </p:nvSpPr>
            <p:spPr>
              <a:xfrm>
                <a:off x="4898516" y="4395025"/>
                <a:ext cx="657225" cy="657225"/>
              </a:xfrm>
              <a:custGeom>
                <a:avLst/>
                <a:gdLst>
                  <a:gd name="connsiteX0" fmla="*/ 7144 w 657225"/>
                  <a:gd name="connsiteY0" fmla="*/ 211455 h 657225"/>
                  <a:gd name="connsiteX1" fmla="*/ 361093 w 657225"/>
                  <a:gd name="connsiteY1" fmla="*/ 7144 h 657225"/>
                  <a:gd name="connsiteX2" fmla="*/ 658558 w 657225"/>
                  <a:gd name="connsiteY2" fmla="*/ 304609 h 657225"/>
                  <a:gd name="connsiteX3" fmla="*/ 454247 w 657225"/>
                  <a:gd name="connsiteY3" fmla="*/ 658558 h 657225"/>
                  <a:gd name="connsiteX4" fmla="*/ 7144 w 657225"/>
                  <a:gd name="connsiteY4" fmla="*/ 211455 h 657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7225" h="657225">
                    <a:moveTo>
                      <a:pt x="7144" y="211455"/>
                    </a:moveTo>
                    <a:lnTo>
                      <a:pt x="361093" y="7144"/>
                    </a:lnTo>
                    <a:cubicBezTo>
                      <a:pt x="432340" y="130397"/>
                      <a:pt x="535210" y="233267"/>
                      <a:pt x="658558" y="304609"/>
                    </a:cubicBezTo>
                    <a:lnTo>
                      <a:pt x="454247" y="658558"/>
                    </a:lnTo>
                    <a:cubicBezTo>
                      <a:pt x="268891" y="551307"/>
                      <a:pt x="114395" y="396716"/>
                      <a:pt x="7144" y="211455"/>
                    </a:cubicBezTo>
                    <a:close/>
                  </a:path>
                </a:pathLst>
              </a:custGeom>
              <a:solidFill>
                <a:srgbClr val="749CE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4" name="Group 24">
              <a:extLst>
                <a:ext uri="{FF2B5EF4-FFF2-40B4-BE49-F238E27FC236}">
                  <a16:creationId xmlns:a16="http://schemas.microsoft.com/office/drawing/2014/main" xmlns="" id="{CC37FB34-306E-4C9C-AB53-8242D7F4BD86}"/>
                </a:ext>
              </a:extLst>
            </p:cNvPr>
            <p:cNvGrpSpPr/>
            <p:nvPr/>
          </p:nvGrpSpPr>
          <p:grpSpPr>
            <a:xfrm>
              <a:off x="4623149" y="2458974"/>
              <a:ext cx="2825020" cy="2868263"/>
              <a:chOff x="4623149" y="2458974"/>
              <a:chExt cx="2825020" cy="2868263"/>
            </a:xfrm>
          </p:grpSpPr>
          <p:sp>
            <p:nvSpPr>
              <p:cNvPr id="55" name="Freeform: Shape 15">
                <a:extLst>
                  <a:ext uri="{FF2B5EF4-FFF2-40B4-BE49-F238E27FC236}">
                    <a16:creationId xmlns:a16="http://schemas.microsoft.com/office/drawing/2014/main" xmlns="" id="{7F9521EB-7F91-442E-9924-EBB2BBD0D717}"/>
                  </a:ext>
                </a:extLst>
              </p:cNvPr>
              <p:cNvSpPr/>
              <p:nvPr/>
            </p:nvSpPr>
            <p:spPr>
              <a:xfrm>
                <a:off x="4780788" y="2625851"/>
                <a:ext cx="876300" cy="876300"/>
              </a:xfrm>
              <a:custGeom>
                <a:avLst/>
                <a:gdLst>
                  <a:gd name="connsiteX0" fmla="*/ 875633 w 876300"/>
                  <a:gd name="connsiteY0" fmla="*/ 479012 h 876300"/>
                  <a:gd name="connsiteX1" fmla="*/ 479012 w 876300"/>
                  <a:gd name="connsiteY1" fmla="*/ 875633 h 876300"/>
                  <a:gd name="connsiteX2" fmla="*/ 7144 w 876300"/>
                  <a:gd name="connsiteY2" fmla="*/ 603218 h 876300"/>
                  <a:gd name="connsiteX3" fmla="*/ 603218 w 876300"/>
                  <a:gd name="connsiteY3" fmla="*/ 7144 h 876300"/>
                  <a:gd name="connsiteX4" fmla="*/ 875633 w 876300"/>
                  <a:gd name="connsiteY4" fmla="*/ 479012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6300" h="876300">
                    <a:moveTo>
                      <a:pt x="875633" y="479012"/>
                    </a:moveTo>
                    <a:cubicBezTo>
                      <a:pt x="711232" y="574072"/>
                      <a:pt x="574167" y="711232"/>
                      <a:pt x="479012" y="875633"/>
                    </a:cubicBezTo>
                    <a:lnTo>
                      <a:pt x="7144" y="603218"/>
                    </a:lnTo>
                    <a:cubicBezTo>
                      <a:pt x="150114" y="356140"/>
                      <a:pt x="356140" y="150019"/>
                      <a:pt x="603218" y="7144"/>
                    </a:cubicBezTo>
                    <a:lnTo>
                      <a:pt x="875633" y="479012"/>
                    </a:lnTo>
                    <a:close/>
                  </a:path>
                </a:pathLst>
              </a:custGeom>
              <a:solidFill>
                <a:srgbClr val="0A19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16">
                <a:extLst>
                  <a:ext uri="{FF2B5EF4-FFF2-40B4-BE49-F238E27FC236}">
                    <a16:creationId xmlns:a16="http://schemas.microsoft.com/office/drawing/2014/main" xmlns="" id="{E9C4F98D-E359-4D6F-810E-4A2D835AC844}"/>
                  </a:ext>
                </a:extLst>
              </p:cNvPr>
              <p:cNvSpPr/>
              <p:nvPr/>
            </p:nvSpPr>
            <p:spPr>
              <a:xfrm>
                <a:off x="5960364" y="2458974"/>
                <a:ext cx="819150" cy="695325"/>
              </a:xfrm>
              <a:custGeom>
                <a:avLst/>
                <a:gdLst>
                  <a:gd name="connsiteX0" fmla="*/ 821341 w 819150"/>
                  <a:gd name="connsiteY0" fmla="*/ 225076 h 695325"/>
                  <a:gd name="connsiteX1" fmla="*/ 548926 w 819150"/>
                  <a:gd name="connsiteY1" fmla="*/ 696944 h 695325"/>
                  <a:gd name="connsiteX2" fmla="*/ 7144 w 819150"/>
                  <a:gd name="connsiteY2" fmla="*/ 551974 h 695325"/>
                  <a:gd name="connsiteX3" fmla="*/ 7144 w 819150"/>
                  <a:gd name="connsiteY3" fmla="*/ 7144 h 695325"/>
                  <a:gd name="connsiteX4" fmla="*/ 821341 w 819150"/>
                  <a:gd name="connsiteY4" fmla="*/ 225076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150" h="695325">
                    <a:moveTo>
                      <a:pt x="821341" y="225076"/>
                    </a:moveTo>
                    <a:lnTo>
                      <a:pt x="548926" y="696944"/>
                    </a:lnTo>
                    <a:cubicBezTo>
                      <a:pt x="389572" y="604742"/>
                      <a:pt x="204501" y="551974"/>
                      <a:pt x="7144" y="551974"/>
                    </a:cubicBezTo>
                    <a:lnTo>
                      <a:pt x="7144" y="7144"/>
                    </a:lnTo>
                    <a:cubicBezTo>
                      <a:pt x="303752" y="7144"/>
                      <a:pt x="581787" y="86487"/>
                      <a:pt x="821341" y="225076"/>
                    </a:cubicBezTo>
                    <a:close/>
                  </a:path>
                </a:pathLst>
              </a:custGeom>
              <a:solidFill>
                <a:srgbClr val="FFC94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17">
                <a:extLst>
                  <a:ext uri="{FF2B5EF4-FFF2-40B4-BE49-F238E27FC236}">
                    <a16:creationId xmlns:a16="http://schemas.microsoft.com/office/drawing/2014/main" xmlns="" id="{F76A82CC-FCAE-4E81-9509-92B7B1344CF3}"/>
                  </a:ext>
                </a:extLst>
              </p:cNvPr>
              <p:cNvSpPr/>
              <p:nvPr/>
            </p:nvSpPr>
            <p:spPr>
              <a:xfrm>
                <a:off x="6752844" y="3127152"/>
                <a:ext cx="695325" cy="819150"/>
              </a:xfrm>
              <a:custGeom>
                <a:avLst/>
                <a:gdLst>
                  <a:gd name="connsiteX0" fmla="*/ 696944 w 695325"/>
                  <a:gd name="connsiteY0" fmla="*/ 821341 h 819150"/>
                  <a:gd name="connsiteX1" fmla="*/ 152114 w 695325"/>
                  <a:gd name="connsiteY1" fmla="*/ 821341 h 819150"/>
                  <a:gd name="connsiteX2" fmla="*/ 7144 w 695325"/>
                  <a:gd name="connsiteY2" fmla="*/ 279559 h 819150"/>
                  <a:gd name="connsiteX3" fmla="*/ 479012 w 695325"/>
                  <a:gd name="connsiteY3" fmla="*/ 7144 h 819150"/>
                  <a:gd name="connsiteX4" fmla="*/ 696944 w 695325"/>
                  <a:gd name="connsiteY4" fmla="*/ 821341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5325" h="819150">
                    <a:moveTo>
                      <a:pt x="696944" y="821341"/>
                    </a:moveTo>
                    <a:lnTo>
                      <a:pt x="152114" y="821341"/>
                    </a:lnTo>
                    <a:cubicBezTo>
                      <a:pt x="152114" y="623983"/>
                      <a:pt x="99346" y="438912"/>
                      <a:pt x="7144" y="279559"/>
                    </a:cubicBezTo>
                    <a:lnTo>
                      <a:pt x="479012" y="7144"/>
                    </a:lnTo>
                    <a:cubicBezTo>
                      <a:pt x="617696" y="246602"/>
                      <a:pt x="696944" y="524732"/>
                      <a:pt x="696944" y="821341"/>
                    </a:cubicBezTo>
                    <a:close/>
                  </a:path>
                </a:pathLst>
              </a:custGeom>
              <a:solidFill>
                <a:srgbClr val="185AD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xmlns="" id="{CB2D695F-2723-40B8-98AD-6E79B851BCF9}"/>
                  </a:ext>
                </a:extLst>
              </p:cNvPr>
              <p:cNvSpPr/>
              <p:nvPr/>
            </p:nvSpPr>
            <p:spPr>
              <a:xfrm>
                <a:off x="6416611" y="4286440"/>
                <a:ext cx="876300" cy="876300"/>
              </a:xfrm>
              <a:custGeom>
                <a:avLst/>
                <a:gdLst>
                  <a:gd name="connsiteX0" fmla="*/ 7144 w 876300"/>
                  <a:gd name="connsiteY0" fmla="*/ 403765 h 876300"/>
                  <a:gd name="connsiteX1" fmla="*/ 403765 w 876300"/>
                  <a:gd name="connsiteY1" fmla="*/ 7144 h 876300"/>
                  <a:gd name="connsiteX2" fmla="*/ 875634 w 876300"/>
                  <a:gd name="connsiteY2" fmla="*/ 279559 h 876300"/>
                  <a:gd name="connsiteX3" fmla="*/ 279559 w 876300"/>
                  <a:gd name="connsiteY3" fmla="*/ 875634 h 876300"/>
                  <a:gd name="connsiteX4" fmla="*/ 7144 w 876300"/>
                  <a:gd name="connsiteY4" fmla="*/ 403765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6300" h="876300">
                    <a:moveTo>
                      <a:pt x="7144" y="403765"/>
                    </a:moveTo>
                    <a:cubicBezTo>
                      <a:pt x="171545" y="308705"/>
                      <a:pt x="308610" y="171545"/>
                      <a:pt x="403765" y="7144"/>
                    </a:cubicBezTo>
                    <a:lnTo>
                      <a:pt x="875634" y="279559"/>
                    </a:lnTo>
                    <a:cubicBezTo>
                      <a:pt x="732663" y="526637"/>
                      <a:pt x="526638" y="732759"/>
                      <a:pt x="279559" y="875634"/>
                    </a:cubicBezTo>
                    <a:lnTo>
                      <a:pt x="7144" y="403765"/>
                    </a:lnTo>
                    <a:close/>
                  </a:path>
                </a:pathLst>
              </a:custGeom>
              <a:solidFill>
                <a:srgbClr val="0A19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xmlns="" id="{3A932812-2DDD-447B-A501-40D53336EE86}"/>
                  </a:ext>
                </a:extLst>
              </p:cNvPr>
              <p:cNvSpPr/>
              <p:nvPr/>
            </p:nvSpPr>
            <p:spPr>
              <a:xfrm>
                <a:off x="5291327" y="4631912"/>
                <a:ext cx="819150" cy="695325"/>
              </a:xfrm>
              <a:custGeom>
                <a:avLst/>
                <a:gdLst>
                  <a:gd name="connsiteX0" fmla="*/ 7144 w 819150"/>
                  <a:gd name="connsiteY0" fmla="*/ 479012 h 695325"/>
                  <a:gd name="connsiteX1" fmla="*/ 279559 w 819150"/>
                  <a:gd name="connsiteY1" fmla="*/ 7144 h 695325"/>
                  <a:gd name="connsiteX2" fmla="*/ 821341 w 819150"/>
                  <a:gd name="connsiteY2" fmla="*/ 152114 h 695325"/>
                  <a:gd name="connsiteX3" fmla="*/ 821341 w 819150"/>
                  <a:gd name="connsiteY3" fmla="*/ 696944 h 695325"/>
                  <a:gd name="connsiteX4" fmla="*/ 7144 w 819150"/>
                  <a:gd name="connsiteY4" fmla="*/ 479012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150" h="695325">
                    <a:moveTo>
                      <a:pt x="7144" y="479012"/>
                    </a:moveTo>
                    <a:lnTo>
                      <a:pt x="279559" y="7144"/>
                    </a:lnTo>
                    <a:cubicBezTo>
                      <a:pt x="438912" y="99346"/>
                      <a:pt x="623983" y="152114"/>
                      <a:pt x="821341" y="152114"/>
                    </a:cubicBezTo>
                    <a:lnTo>
                      <a:pt x="821341" y="696944"/>
                    </a:lnTo>
                    <a:cubicBezTo>
                      <a:pt x="524732" y="696944"/>
                      <a:pt x="246697" y="617601"/>
                      <a:pt x="7144" y="479012"/>
                    </a:cubicBezTo>
                    <a:close/>
                  </a:path>
                </a:pathLst>
              </a:custGeom>
              <a:solidFill>
                <a:srgbClr val="FFC94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xmlns="" id="{5442EC63-8D04-4E10-B274-E6622FC9929E}"/>
                  </a:ext>
                </a:extLst>
              </p:cNvPr>
              <p:cNvSpPr/>
              <p:nvPr/>
            </p:nvSpPr>
            <p:spPr>
              <a:xfrm>
                <a:off x="4623149" y="3839432"/>
                <a:ext cx="695325" cy="819150"/>
              </a:xfrm>
              <a:custGeom>
                <a:avLst/>
                <a:gdLst>
                  <a:gd name="connsiteX0" fmla="*/ 7144 w 695325"/>
                  <a:gd name="connsiteY0" fmla="*/ 7144 h 819150"/>
                  <a:gd name="connsiteX1" fmla="*/ 551974 w 695325"/>
                  <a:gd name="connsiteY1" fmla="*/ 7144 h 819150"/>
                  <a:gd name="connsiteX2" fmla="*/ 696944 w 695325"/>
                  <a:gd name="connsiteY2" fmla="*/ 548926 h 819150"/>
                  <a:gd name="connsiteX3" fmla="*/ 225076 w 695325"/>
                  <a:gd name="connsiteY3" fmla="*/ 821341 h 819150"/>
                  <a:gd name="connsiteX4" fmla="*/ 7144 w 695325"/>
                  <a:gd name="connsiteY4" fmla="*/ 7144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5325" h="819150">
                    <a:moveTo>
                      <a:pt x="7144" y="7144"/>
                    </a:moveTo>
                    <a:lnTo>
                      <a:pt x="551974" y="7144"/>
                    </a:lnTo>
                    <a:cubicBezTo>
                      <a:pt x="551974" y="204502"/>
                      <a:pt x="604742" y="389572"/>
                      <a:pt x="696944" y="548926"/>
                    </a:cubicBezTo>
                    <a:lnTo>
                      <a:pt x="225076" y="821341"/>
                    </a:lnTo>
                    <a:cubicBezTo>
                      <a:pt x="86487" y="581787"/>
                      <a:pt x="7144" y="303752"/>
                      <a:pt x="7144" y="7144"/>
                    </a:cubicBezTo>
                    <a:close/>
                  </a:path>
                </a:pathLst>
              </a:custGeom>
              <a:solidFill>
                <a:srgbClr val="185AD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7" name="Group 35">
            <a:extLst>
              <a:ext uri="{FF2B5EF4-FFF2-40B4-BE49-F238E27FC236}">
                <a16:creationId xmlns:a16="http://schemas.microsoft.com/office/drawing/2014/main" xmlns="" id="{16394AF7-FBEF-4413-B4E2-C37980057456}"/>
              </a:ext>
            </a:extLst>
          </p:cNvPr>
          <p:cNvGrpSpPr/>
          <p:nvPr/>
        </p:nvGrpSpPr>
        <p:grpSpPr>
          <a:xfrm>
            <a:off x="5781211" y="835089"/>
            <a:ext cx="6354484" cy="2361089"/>
            <a:chOff x="6362679" y="1060032"/>
            <a:chExt cx="5876902" cy="162259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BA973CB0-9E60-4CE4-BCCE-D31B6CB1D66A}"/>
                </a:ext>
              </a:extLst>
            </p:cNvPr>
            <p:cNvSpPr/>
            <p:nvPr/>
          </p:nvSpPr>
          <p:spPr>
            <a:xfrm>
              <a:off x="8436451" y="1796639"/>
              <a:ext cx="3021060" cy="885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Loss of the prescription or follow-up sheets that could cause confusion about the treatment that the patient should normally receive.</a:t>
              </a:r>
              <a:endParaRPr lang="fr-FR" sz="1600" dirty="0"/>
            </a:p>
            <a:p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xmlns="" id="{2416B777-B297-4CD5-99F8-4134285B91D0}"/>
                </a:ext>
              </a:extLst>
            </p:cNvPr>
            <p:cNvSpPr txBox="1"/>
            <p:nvPr/>
          </p:nvSpPr>
          <p:spPr>
            <a:xfrm>
              <a:off x="6362679" y="1060032"/>
              <a:ext cx="5876902" cy="728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600" b="1" dirty="0" smtClean="0"/>
                <a:t> HANDWRITTEN PRESCRIPTION OF THE PATIENTS;</a:t>
              </a:r>
              <a:endParaRPr lang="fr-FR" sz="1600" b="1" dirty="0" smtClean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600" b="1" dirty="0" smtClean="0"/>
                <a:t>HANDWRITTEN COMPLETION OF THE PATIENT MONITORING FORM; </a:t>
              </a:r>
              <a:endParaRPr lang="fr-FR" sz="1600" b="1" dirty="0" smtClean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600" b="1" dirty="0" smtClean="0"/>
                <a:t>HANDWRITTEN COMPLETION OF THE IDENTIFICATION FORM FOR THE MEDICATIONS USE</a:t>
              </a:r>
              <a:r>
                <a:rPr lang="en-US" b="1" dirty="0" smtClean="0"/>
                <a:t>D</a:t>
              </a:r>
              <a:r>
                <a:rPr lang="en-US" sz="2000" b="1" dirty="0" smtClean="0"/>
                <a:t>.</a:t>
              </a:r>
              <a:endParaRPr lang="en-US" sz="2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70" name="Group 37">
            <a:extLst>
              <a:ext uri="{FF2B5EF4-FFF2-40B4-BE49-F238E27FC236}">
                <a16:creationId xmlns:a16="http://schemas.microsoft.com/office/drawing/2014/main" xmlns="" id="{FE499F37-1CCC-404E-AF1F-41A18C325973}"/>
              </a:ext>
            </a:extLst>
          </p:cNvPr>
          <p:cNvGrpSpPr/>
          <p:nvPr/>
        </p:nvGrpSpPr>
        <p:grpSpPr>
          <a:xfrm>
            <a:off x="7462109" y="3000425"/>
            <a:ext cx="6203130" cy="1527917"/>
            <a:chOff x="6856751" y="4501830"/>
            <a:chExt cx="5814508" cy="1061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8D67FE7-C2E3-485B-BFB3-47D50200A5D1}"/>
                </a:ext>
              </a:extLst>
            </p:cNvPr>
            <p:cNvSpPr/>
            <p:nvPr/>
          </p:nvSpPr>
          <p:spPr>
            <a:xfrm>
              <a:off x="7043737" y="5182920"/>
              <a:ext cx="3021060" cy="379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repetitive tasks leading to wasted time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72" name="TextBox 30">
              <a:extLst>
                <a:ext uri="{FF2B5EF4-FFF2-40B4-BE49-F238E27FC236}">
                  <a16:creationId xmlns:a16="http://schemas.microsoft.com/office/drawing/2014/main" xmlns="" id="{B1011C5E-E9DD-4F3B-9173-94BFA45AC6CD}"/>
                </a:ext>
              </a:extLst>
            </p:cNvPr>
            <p:cNvSpPr txBox="1"/>
            <p:nvPr/>
          </p:nvSpPr>
          <p:spPr>
            <a:xfrm>
              <a:off x="6856751" y="4501830"/>
              <a:ext cx="5814508" cy="1049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/>
                  </a:solidFill>
                </a:rPr>
                <a:t> </a:t>
              </a:r>
              <a:r>
                <a:rPr lang="en-US" b="1" dirty="0" smtClean="0"/>
                <a:t>PREPARATION OF PRO FORMA INVOICES</a:t>
              </a:r>
            </a:p>
            <a:p>
              <a:r>
                <a:rPr lang="en-US" b="1" dirty="0" smtClean="0"/>
                <a:t> (PHYSICAL DOCUMENT) </a:t>
              </a:r>
            </a:p>
            <a:p>
              <a:r>
                <a:rPr lang="en-US" b="1" dirty="0" smtClean="0"/>
                <a:t>EVERY MORNING.</a:t>
              </a:r>
            </a:p>
            <a:p>
              <a:endParaRPr lang="en-US" b="1" dirty="0" smtClean="0"/>
            </a:p>
            <a:p>
              <a:endParaRPr lang="en-US" sz="1400" b="1" dirty="0" smtClean="0"/>
            </a:p>
            <a:p>
              <a:endParaRPr lang="en-US" sz="1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3" name="Group 36">
            <a:extLst>
              <a:ext uri="{FF2B5EF4-FFF2-40B4-BE49-F238E27FC236}">
                <a16:creationId xmlns:a16="http://schemas.microsoft.com/office/drawing/2014/main" xmlns="" id="{8CEE64E1-D78E-48D4-9696-B0D4C86C903F}"/>
              </a:ext>
            </a:extLst>
          </p:cNvPr>
          <p:cNvGrpSpPr/>
          <p:nvPr/>
        </p:nvGrpSpPr>
        <p:grpSpPr>
          <a:xfrm>
            <a:off x="756164" y="5176557"/>
            <a:ext cx="5030160" cy="1757905"/>
            <a:chOff x="5607981" y="2482531"/>
            <a:chExt cx="5030160" cy="175790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6F001B15-E491-4990-A272-59331F94EBCF}"/>
                </a:ext>
              </a:extLst>
            </p:cNvPr>
            <p:cNvSpPr/>
            <p:nvPr/>
          </p:nvSpPr>
          <p:spPr>
            <a:xfrm>
              <a:off x="6719665" y="3070885"/>
              <a:ext cx="3021060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solidFill>
                    <a:schemeClr val="accent1"/>
                  </a:solidFill>
                </a:rPr>
                <a:t> </a:t>
              </a:r>
              <a:r>
                <a:rPr lang="en-US" sz="1400" dirty="0"/>
                <a:t>A patient requiring emergency treatment due to a complication could risk losing their life while waiting to notify the team capable of caring for them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75" name="TextBox 34">
              <a:extLst>
                <a:ext uri="{FF2B5EF4-FFF2-40B4-BE49-F238E27FC236}">
                  <a16:creationId xmlns:a16="http://schemas.microsoft.com/office/drawing/2014/main" xmlns="" id="{841B13FA-9737-4362-866C-6734AE4C2953}"/>
                </a:ext>
              </a:extLst>
            </p:cNvPr>
            <p:cNvSpPr txBox="1"/>
            <p:nvPr/>
          </p:nvSpPr>
          <p:spPr>
            <a:xfrm>
              <a:off x="5607981" y="2482531"/>
              <a:ext cx="503016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DELAY DURING EMERGENCY INTERVENTIONS </a:t>
              </a:r>
            </a:p>
            <a:p>
              <a:r>
                <a:rPr lang="en-US" sz="2000" b="1" dirty="0" smtClean="0"/>
                <a:t>BY HEALTHCARE TEAMS.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9" name="Group 31">
            <a:extLst>
              <a:ext uri="{FF2B5EF4-FFF2-40B4-BE49-F238E27FC236}">
                <a16:creationId xmlns:a16="http://schemas.microsoft.com/office/drawing/2014/main" xmlns="" id="{EA6B0260-0D25-41AE-89D3-FDE87F7C264F}"/>
              </a:ext>
            </a:extLst>
          </p:cNvPr>
          <p:cNvGrpSpPr/>
          <p:nvPr/>
        </p:nvGrpSpPr>
        <p:grpSpPr>
          <a:xfrm>
            <a:off x="117031" y="3214772"/>
            <a:ext cx="4109800" cy="1957516"/>
            <a:chOff x="323930" y="4721019"/>
            <a:chExt cx="4109800" cy="1957516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xmlns="" id="{85D4D983-9AEE-4EAA-8BAF-D79D4E128A87}"/>
                </a:ext>
              </a:extLst>
            </p:cNvPr>
            <p:cNvSpPr/>
            <p:nvPr/>
          </p:nvSpPr>
          <p:spPr>
            <a:xfrm>
              <a:off x="1412670" y="5016542"/>
              <a:ext cx="3021060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In the event of loss of the patient's medical file, it would be impossible to have access to the patient's medical history, thus leading to a wrong diagnosis by the doctor, which could lead to the administration of the wrong treatment</a:t>
              </a:r>
              <a:r>
                <a:rPr lang="en-US" dirty="0"/>
                <a:t>.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81" name="TextBox 44">
              <a:extLst>
                <a:ext uri="{FF2B5EF4-FFF2-40B4-BE49-F238E27FC236}">
                  <a16:creationId xmlns:a16="http://schemas.microsoft.com/office/drawing/2014/main" xmlns="" id="{2BDAD135-682E-41D5-94F7-48F4B3618F3C}"/>
                </a:ext>
              </a:extLst>
            </p:cNvPr>
            <p:cNvSpPr txBox="1"/>
            <p:nvPr/>
          </p:nvSpPr>
          <p:spPr>
            <a:xfrm>
              <a:off x="323930" y="4721019"/>
              <a:ext cx="32210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CM" sz="2400" b="1" dirty="0" smtClean="0"/>
                <a:t>PHYSICAL MEDICAL FILE</a:t>
              </a:r>
              <a:endParaRPr lang="en-US" sz="2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82" name="Group 2">
            <a:extLst>
              <a:ext uri="{FF2B5EF4-FFF2-40B4-BE49-F238E27FC236}">
                <a16:creationId xmlns:a16="http://schemas.microsoft.com/office/drawing/2014/main" xmlns="" id="{837E05F8-5A7F-4953-9A5D-C64E1D5B7780}"/>
              </a:ext>
            </a:extLst>
          </p:cNvPr>
          <p:cNvGrpSpPr/>
          <p:nvPr/>
        </p:nvGrpSpPr>
        <p:grpSpPr>
          <a:xfrm>
            <a:off x="78441" y="978898"/>
            <a:ext cx="4386096" cy="1995218"/>
            <a:chOff x="176696" y="3194644"/>
            <a:chExt cx="4386096" cy="1995218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xmlns="" id="{5E866539-4757-4E62-A34E-46EFCBD521CA}"/>
                </a:ext>
              </a:extLst>
            </p:cNvPr>
            <p:cNvSpPr/>
            <p:nvPr/>
          </p:nvSpPr>
          <p:spPr>
            <a:xfrm>
              <a:off x="1541732" y="3527869"/>
              <a:ext cx="3021060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 </a:t>
              </a:r>
              <a:r>
                <a:rPr lang="en-US" sz="1400" dirty="0"/>
                <a:t>Complications: one of the most commonly used therapy in intensive care is mechanical ventilation; its simple absence can cause numerous complications such as pneumonia. Thus, increasing the probability of death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84" name="TextBox 47">
              <a:extLst>
                <a:ext uri="{FF2B5EF4-FFF2-40B4-BE49-F238E27FC236}">
                  <a16:creationId xmlns:a16="http://schemas.microsoft.com/office/drawing/2014/main" xmlns="" id="{B35A031D-1153-48D5-A15E-1B4092FAE9AF}"/>
                </a:ext>
              </a:extLst>
            </p:cNvPr>
            <p:cNvSpPr txBox="1"/>
            <p:nvPr/>
          </p:nvSpPr>
          <p:spPr>
            <a:xfrm>
              <a:off x="176696" y="3194644"/>
              <a:ext cx="3719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 smtClean="0"/>
                <a:t>LACK OF DEVICES OR MATERIALS </a:t>
              </a:r>
              <a:endParaRPr lang="en-US" sz="28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86" name="Group 2">
            <a:extLst>
              <a:ext uri="{FF2B5EF4-FFF2-40B4-BE49-F238E27FC236}">
                <a16:creationId xmlns:a16="http://schemas.microsoft.com/office/drawing/2014/main" xmlns="" id="{837E05F8-5A7F-4953-9A5D-C64E1D5B7780}"/>
              </a:ext>
            </a:extLst>
          </p:cNvPr>
          <p:cNvGrpSpPr/>
          <p:nvPr/>
        </p:nvGrpSpPr>
        <p:grpSpPr>
          <a:xfrm>
            <a:off x="6255802" y="4851818"/>
            <a:ext cx="5648919" cy="2074814"/>
            <a:chOff x="6944908" y="3036811"/>
            <a:chExt cx="5721208" cy="904599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xmlns="" id="{5E866539-4757-4E62-A34E-46EFCBD521CA}"/>
                </a:ext>
              </a:extLst>
            </p:cNvPr>
            <p:cNvSpPr/>
            <p:nvPr/>
          </p:nvSpPr>
          <p:spPr>
            <a:xfrm>
              <a:off x="8013845" y="3444916"/>
              <a:ext cx="3021060" cy="4964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Poor transmission of information causing errors in medical prescriptions and in the administration of care</a:t>
              </a:r>
              <a:r>
                <a:rPr lang="en-US" sz="2000" dirty="0"/>
                <a:t>.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sp>
          <p:nvSpPr>
            <p:cNvPr id="88" name="TextBox 47">
              <a:extLst>
                <a:ext uri="{FF2B5EF4-FFF2-40B4-BE49-F238E27FC236}">
                  <a16:creationId xmlns:a16="http://schemas.microsoft.com/office/drawing/2014/main" xmlns="" id="{B35A031D-1153-48D5-A15E-1B4092FAE9AF}"/>
                </a:ext>
              </a:extLst>
            </p:cNvPr>
            <p:cNvSpPr txBox="1"/>
            <p:nvPr/>
          </p:nvSpPr>
          <p:spPr>
            <a:xfrm>
              <a:off x="6944908" y="3036811"/>
              <a:ext cx="5721208" cy="469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• LACK OF FLUID AND DIRECT COMMUNICATION BETWEEN T</a:t>
              </a:r>
            </a:p>
            <a:p>
              <a:r>
                <a:rPr lang="en-US" sz="1600" b="1" dirty="0" smtClean="0"/>
                <a:t>HE NURSE AND THE MEDICAL STAFF</a:t>
              </a:r>
              <a:endParaRPr lang="fr-FR" sz="1600" b="1" dirty="0" smtClean="0"/>
            </a:p>
            <a:p>
              <a:r>
                <a:rPr lang="en-US" sz="1600" b="1" dirty="0" smtClean="0"/>
                <a:t> </a:t>
              </a:r>
              <a:endParaRPr lang="fr-FR" sz="1600" b="1" dirty="0" smtClean="0"/>
            </a:p>
            <a:p>
              <a:r>
                <a:rPr lang="en-US" sz="1600" b="1" dirty="0" smtClean="0"/>
                <a:t>• POOR COORDINATION OF CARE BETWEEN THE MEDICAL STAFF</a:t>
              </a:r>
              <a:endParaRPr lang="en-US" sz="1600" b="1" dirty="0">
                <a:solidFill>
                  <a:schemeClr val="accent2"/>
                </a:solidFill>
              </a:endParaRPr>
            </a:p>
          </p:txBody>
        </p:sp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137" y="2281203"/>
            <a:ext cx="2781057" cy="20220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519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5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29000">
              <a:srgbClr val="368E79">
                <a:tint val="23500"/>
                <a:satMod val="160000"/>
                <a:lumMod val="0"/>
                <a:lumOff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sées 4"/>
          <p:cNvSpPr/>
          <p:nvPr/>
        </p:nvSpPr>
        <p:spPr>
          <a:xfrm>
            <a:off x="4000501" y="1576875"/>
            <a:ext cx="7727042" cy="5253167"/>
          </a:xfrm>
          <a:prstGeom prst="cloudCallout">
            <a:avLst>
              <a:gd name="adj1" fmla="val -67194"/>
              <a:gd name="adj2" fmla="val -25185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2" name="Rectangle 1"/>
          <p:cNvSpPr/>
          <p:nvPr/>
        </p:nvSpPr>
        <p:spPr>
          <a:xfrm>
            <a:off x="4816022" y="2995180"/>
            <a:ext cx="6096000" cy="212006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5725" marR="14605" indent="44958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HOW CAN THE DIGITALIZATION OF CLINICAL PRACTICES IMPROVE THE QUALITY OF CARE IN INTENSIVE CARE WHILE GUARANTEEING THE SECURITY AND CONFIDENTIALITY OF PATIENT DATA?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xmlns="" id="{95504EEF-9FFF-4C9F-9F16-51EAA47DED1B}"/>
              </a:ext>
            </a:extLst>
          </p:cNvPr>
          <p:cNvGrpSpPr/>
          <p:nvPr/>
        </p:nvGrpSpPr>
        <p:grpSpPr>
          <a:xfrm>
            <a:off x="661635" y="87337"/>
            <a:ext cx="10586935" cy="928663"/>
            <a:chOff x="413054" y="114664"/>
            <a:chExt cx="12329024" cy="992947"/>
          </a:xfrm>
          <a:solidFill>
            <a:srgbClr val="00B050"/>
          </a:solidFill>
        </p:grpSpPr>
        <p:sp>
          <p:nvSpPr>
            <p:cNvPr id="8" name="Signalisation droite 5">
              <a:extLst>
                <a:ext uri="{FF2B5EF4-FFF2-40B4-BE49-F238E27FC236}">
                  <a16:creationId xmlns:a16="http://schemas.microsoft.com/office/drawing/2014/main" xmlns="" id="{BE092505-8B09-B74D-AB5D-F737400CEEDB}"/>
                </a:ext>
              </a:extLst>
            </p:cNvPr>
            <p:cNvSpPr/>
            <p:nvPr/>
          </p:nvSpPr>
          <p:spPr>
            <a:xfrm>
              <a:off x="1675627" y="114664"/>
              <a:ext cx="11066451" cy="923525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800" b="1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PROBLEMATIC AND SOLUTIONS</a:t>
              </a:r>
              <a:endParaRPr lang="fr-FR" sz="48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Larme 8">
              <a:extLst>
                <a:ext uri="{FF2B5EF4-FFF2-40B4-BE49-F238E27FC236}">
                  <a16:creationId xmlns:a16="http://schemas.microsoft.com/office/drawing/2014/main" xmlns="" id="{D9D66D36-2DC1-4453-91F8-DFC07EE7998C}"/>
                </a:ext>
              </a:extLst>
            </p:cNvPr>
            <p:cNvSpPr/>
            <p:nvPr/>
          </p:nvSpPr>
          <p:spPr>
            <a:xfrm>
              <a:off x="413054" y="184084"/>
              <a:ext cx="1262573" cy="923527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/>
                <a:t>3</a:t>
              </a:r>
            </a:p>
          </p:txBody>
        </p:sp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" y="1080925"/>
            <a:ext cx="3708854" cy="5777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607586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chemeClr val="bg1"/>
            </a:gs>
            <a:gs pos="17000">
              <a:schemeClr val="bg1"/>
            </a:gs>
            <a:gs pos="100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à coins arrondis 11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grpSp>
        <p:nvGrpSpPr>
          <p:cNvPr id="13" name="Group 39">
            <a:extLst>
              <a:ext uri="{FF2B5EF4-FFF2-40B4-BE49-F238E27FC236}">
                <a16:creationId xmlns:a16="http://schemas.microsoft.com/office/drawing/2014/main" xmlns="" id="{C24C91F1-5F8D-48DB-8772-1D14287657E4}"/>
              </a:ext>
            </a:extLst>
          </p:cNvPr>
          <p:cNvGrpSpPr/>
          <p:nvPr/>
        </p:nvGrpSpPr>
        <p:grpSpPr>
          <a:xfrm>
            <a:off x="1988248" y="3506954"/>
            <a:ext cx="9795415" cy="1457325"/>
            <a:chOff x="1193006" y="2697956"/>
            <a:chExt cx="9795415" cy="1457325"/>
          </a:xfrm>
        </p:grpSpPr>
        <p:sp>
          <p:nvSpPr>
            <p:cNvPr id="14" name="Freeform: Shape 3">
              <a:extLst>
                <a:ext uri="{FF2B5EF4-FFF2-40B4-BE49-F238E27FC236}">
                  <a16:creationId xmlns:a16="http://schemas.microsoft.com/office/drawing/2014/main" xmlns="" id="{DF4F4132-0C38-4827-B9A8-6B8B847F190B}"/>
                </a:ext>
              </a:extLst>
            </p:cNvPr>
            <p:cNvSpPr/>
            <p:nvPr/>
          </p:nvSpPr>
          <p:spPr>
            <a:xfrm>
              <a:off x="1193006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4">
              <a:extLst>
                <a:ext uri="{FF2B5EF4-FFF2-40B4-BE49-F238E27FC236}">
                  <a16:creationId xmlns:a16="http://schemas.microsoft.com/office/drawing/2014/main" xmlns="" id="{9396EBC1-C243-412F-9B85-7768289D692F}"/>
                </a:ext>
              </a:extLst>
            </p:cNvPr>
            <p:cNvSpPr/>
            <p:nvPr/>
          </p:nvSpPr>
          <p:spPr>
            <a:xfrm>
              <a:off x="2384202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5">
              <a:extLst>
                <a:ext uri="{FF2B5EF4-FFF2-40B4-BE49-F238E27FC236}">
                  <a16:creationId xmlns:a16="http://schemas.microsoft.com/office/drawing/2014/main" xmlns="" id="{F812C878-B294-44D6-AD36-E882A6E930FE}"/>
                </a:ext>
              </a:extLst>
            </p:cNvPr>
            <p:cNvSpPr/>
            <p:nvPr/>
          </p:nvSpPr>
          <p:spPr>
            <a:xfrm>
              <a:off x="3575304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xmlns="" id="{D5BF7F3E-C061-4516-9F5F-58DE0E1B2D1A}"/>
                </a:ext>
              </a:extLst>
            </p:cNvPr>
            <p:cNvSpPr/>
            <p:nvPr/>
          </p:nvSpPr>
          <p:spPr>
            <a:xfrm>
              <a:off x="4766500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7">
              <a:extLst>
                <a:ext uri="{FF2B5EF4-FFF2-40B4-BE49-F238E27FC236}">
                  <a16:creationId xmlns:a16="http://schemas.microsoft.com/office/drawing/2014/main" xmlns="" id="{6EF891FF-7EA0-4772-9E66-9BB52887E12F}"/>
                </a:ext>
              </a:extLst>
            </p:cNvPr>
            <p:cNvSpPr/>
            <p:nvPr/>
          </p:nvSpPr>
          <p:spPr>
            <a:xfrm>
              <a:off x="5957601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8">
              <a:extLst>
                <a:ext uri="{FF2B5EF4-FFF2-40B4-BE49-F238E27FC236}">
                  <a16:creationId xmlns:a16="http://schemas.microsoft.com/office/drawing/2014/main" xmlns="" id="{F939B7A8-35B8-4EB9-B26C-B72AC015DD02}"/>
                </a:ext>
              </a:extLst>
            </p:cNvPr>
            <p:cNvSpPr/>
            <p:nvPr/>
          </p:nvSpPr>
          <p:spPr>
            <a:xfrm>
              <a:off x="7148798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9">
              <a:extLst>
                <a:ext uri="{FF2B5EF4-FFF2-40B4-BE49-F238E27FC236}">
                  <a16:creationId xmlns:a16="http://schemas.microsoft.com/office/drawing/2014/main" xmlns="" id="{9C139A8D-7273-43EA-871E-A811A66A83C4}"/>
                </a:ext>
              </a:extLst>
            </p:cNvPr>
            <p:cNvSpPr/>
            <p:nvPr/>
          </p:nvSpPr>
          <p:spPr>
            <a:xfrm>
              <a:off x="8339899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0">
              <a:extLst>
                <a:ext uri="{FF2B5EF4-FFF2-40B4-BE49-F238E27FC236}">
                  <a16:creationId xmlns:a16="http://schemas.microsoft.com/office/drawing/2014/main" xmlns="" id="{2232CDBD-0383-4423-AF95-C34F9979ACAB}"/>
                </a:ext>
              </a:extLst>
            </p:cNvPr>
            <p:cNvSpPr/>
            <p:nvPr/>
          </p:nvSpPr>
          <p:spPr>
            <a:xfrm>
              <a:off x="9531096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xmlns="" id="{22F53FC5-C6BE-4F4A-80F2-C44890CDF0EE}"/>
                </a:ext>
              </a:extLst>
            </p:cNvPr>
            <p:cNvSpPr/>
            <p:nvPr/>
          </p:nvSpPr>
          <p:spPr>
            <a:xfrm>
              <a:off x="9531096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xmlns="" id="{B90F78D0-6FAE-4D8E-9F17-8C95831E9F18}"/>
                </a:ext>
              </a:extLst>
            </p:cNvPr>
            <p:cNvSpPr/>
            <p:nvPr/>
          </p:nvSpPr>
          <p:spPr>
            <a:xfrm>
              <a:off x="8339899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xmlns="" id="{0037ACEF-AE43-4F5B-9425-2A9B9E5BF64E}"/>
                </a:ext>
              </a:extLst>
            </p:cNvPr>
            <p:cNvSpPr/>
            <p:nvPr/>
          </p:nvSpPr>
          <p:spPr>
            <a:xfrm>
              <a:off x="7148798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4">
              <a:extLst>
                <a:ext uri="{FF2B5EF4-FFF2-40B4-BE49-F238E27FC236}">
                  <a16:creationId xmlns:a16="http://schemas.microsoft.com/office/drawing/2014/main" xmlns="" id="{1C2CF717-9BA2-403F-9619-4213D0A0F363}"/>
                </a:ext>
              </a:extLst>
            </p:cNvPr>
            <p:cNvSpPr/>
            <p:nvPr/>
          </p:nvSpPr>
          <p:spPr>
            <a:xfrm>
              <a:off x="5957601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xmlns="" id="{336BC861-8FE3-4F05-9C81-855BB82AAF3C}"/>
                </a:ext>
              </a:extLst>
            </p:cNvPr>
            <p:cNvSpPr/>
            <p:nvPr/>
          </p:nvSpPr>
          <p:spPr>
            <a:xfrm>
              <a:off x="4766500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6">
              <a:extLst>
                <a:ext uri="{FF2B5EF4-FFF2-40B4-BE49-F238E27FC236}">
                  <a16:creationId xmlns:a16="http://schemas.microsoft.com/office/drawing/2014/main" xmlns="" id="{A78557D0-2C17-4F1D-BA38-AC1C75BBFB1A}"/>
                </a:ext>
              </a:extLst>
            </p:cNvPr>
            <p:cNvSpPr/>
            <p:nvPr/>
          </p:nvSpPr>
          <p:spPr>
            <a:xfrm>
              <a:off x="3575304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xmlns="" id="{A1DC1C66-567D-4611-9D6C-1392249C46A1}"/>
                </a:ext>
              </a:extLst>
            </p:cNvPr>
            <p:cNvSpPr/>
            <p:nvPr/>
          </p:nvSpPr>
          <p:spPr>
            <a:xfrm>
              <a:off x="2384202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18">
              <a:extLst>
                <a:ext uri="{FF2B5EF4-FFF2-40B4-BE49-F238E27FC236}">
                  <a16:creationId xmlns:a16="http://schemas.microsoft.com/office/drawing/2014/main" xmlns="" id="{D4782C0F-592D-4205-8E69-6BB21ADF0B04}"/>
                </a:ext>
              </a:extLst>
            </p:cNvPr>
            <p:cNvSpPr/>
            <p:nvPr/>
          </p:nvSpPr>
          <p:spPr>
            <a:xfrm>
              <a:off x="1193006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Freeform: Shape 19">
            <a:extLst>
              <a:ext uri="{FF2B5EF4-FFF2-40B4-BE49-F238E27FC236}">
                <a16:creationId xmlns:a16="http://schemas.microsoft.com/office/drawing/2014/main" xmlns="" id="{91135E06-5103-4F6E-8162-6B22AF70B7DF}"/>
              </a:ext>
            </a:extLst>
          </p:cNvPr>
          <p:cNvSpPr/>
          <p:nvPr/>
        </p:nvSpPr>
        <p:spPr>
          <a:xfrm>
            <a:off x="2269426" y="3693549"/>
            <a:ext cx="1085850" cy="1085850"/>
          </a:xfrm>
          <a:custGeom>
            <a:avLst/>
            <a:gdLst>
              <a:gd name="connsiteX0" fmla="*/ 895636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636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636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2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136" y="1000887"/>
                  <a:pt x="1000887" y="1086231"/>
                  <a:pt x="895636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24">
            <a:extLst>
              <a:ext uri="{FF2B5EF4-FFF2-40B4-BE49-F238E27FC236}">
                <a16:creationId xmlns:a16="http://schemas.microsoft.com/office/drawing/2014/main" xmlns="" id="{FBFA64D0-A9A1-45BC-BB06-03CC70BDE515}"/>
              </a:ext>
            </a:extLst>
          </p:cNvPr>
          <p:cNvSpPr/>
          <p:nvPr/>
        </p:nvSpPr>
        <p:spPr>
          <a:xfrm>
            <a:off x="2559081" y="3983204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4 w 504825"/>
              <a:gd name="connsiteY1" fmla="*/ 506825 h 504825"/>
              <a:gd name="connsiteX2" fmla="*/ 7144 w 504825"/>
              <a:gd name="connsiteY2" fmla="*/ 256985 h 504825"/>
              <a:gd name="connsiteX3" fmla="*/ 256984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8" y="506825"/>
                  <a:pt x="256984" y="506825"/>
                </a:cubicBezTo>
                <a:cubicBezTo>
                  <a:pt x="119001" y="506825"/>
                  <a:pt x="7144" y="394968"/>
                  <a:pt x="7144" y="256985"/>
                </a:cubicBezTo>
                <a:cubicBezTo>
                  <a:pt x="7144" y="119001"/>
                  <a:pt x="119001" y="7144"/>
                  <a:pt x="256984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29">
            <a:extLst>
              <a:ext uri="{FF2B5EF4-FFF2-40B4-BE49-F238E27FC236}">
                <a16:creationId xmlns:a16="http://schemas.microsoft.com/office/drawing/2014/main" xmlns="" id="{374AB686-A3D6-445A-A094-5AA92F4BB872}"/>
              </a:ext>
            </a:extLst>
          </p:cNvPr>
          <p:cNvSpPr/>
          <p:nvPr/>
        </p:nvSpPr>
        <p:spPr>
          <a:xfrm>
            <a:off x="2801778" y="4225901"/>
            <a:ext cx="28575" cy="1095375"/>
          </a:xfrm>
          <a:custGeom>
            <a:avLst/>
            <a:gdLst>
              <a:gd name="connsiteX0" fmla="*/ 14288 w 28575"/>
              <a:gd name="connsiteY0" fmla="*/ 14288 h 1095375"/>
              <a:gd name="connsiteX1" fmla="*/ 14288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8" y="14288"/>
                </a:moveTo>
                <a:lnTo>
                  <a:pt x="14288" y="1082802"/>
                </a:lnTo>
              </a:path>
            </a:pathLst>
          </a:custGeom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20">
            <a:extLst>
              <a:ext uri="{FF2B5EF4-FFF2-40B4-BE49-F238E27FC236}">
                <a16:creationId xmlns:a16="http://schemas.microsoft.com/office/drawing/2014/main" xmlns="" id="{49090680-9F27-4B59-BF35-A89A482660A3}"/>
              </a:ext>
            </a:extLst>
          </p:cNvPr>
          <p:cNvSpPr/>
          <p:nvPr/>
        </p:nvSpPr>
        <p:spPr>
          <a:xfrm>
            <a:off x="4306633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2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887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25">
            <a:extLst>
              <a:ext uri="{FF2B5EF4-FFF2-40B4-BE49-F238E27FC236}">
                <a16:creationId xmlns:a16="http://schemas.microsoft.com/office/drawing/2014/main" xmlns="" id="{CC3204D5-26E6-40A6-A4C0-62A3E951C594}"/>
              </a:ext>
            </a:extLst>
          </p:cNvPr>
          <p:cNvSpPr/>
          <p:nvPr/>
        </p:nvSpPr>
        <p:spPr>
          <a:xfrm>
            <a:off x="4596288" y="3997718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4 w 504825"/>
              <a:gd name="connsiteY1" fmla="*/ 506825 h 504825"/>
              <a:gd name="connsiteX2" fmla="*/ 7143 w 504825"/>
              <a:gd name="connsiteY2" fmla="*/ 256985 h 504825"/>
              <a:gd name="connsiteX3" fmla="*/ 256984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8" y="506825"/>
                  <a:pt x="256984" y="506825"/>
                </a:cubicBezTo>
                <a:cubicBezTo>
                  <a:pt x="119001" y="506825"/>
                  <a:pt x="7143" y="394968"/>
                  <a:pt x="7143" y="256985"/>
                </a:cubicBezTo>
                <a:cubicBezTo>
                  <a:pt x="7143" y="119001"/>
                  <a:pt x="119001" y="7144"/>
                  <a:pt x="256984" y="7144"/>
                </a:cubicBezTo>
                <a:cubicBezTo>
                  <a:pt x="394967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0">
            <a:extLst>
              <a:ext uri="{FF2B5EF4-FFF2-40B4-BE49-F238E27FC236}">
                <a16:creationId xmlns:a16="http://schemas.microsoft.com/office/drawing/2014/main" xmlns="" id="{6E08EBF0-0919-4A05-91C5-29B7C7B18322}"/>
              </a:ext>
            </a:extLst>
          </p:cNvPr>
          <p:cNvSpPr/>
          <p:nvPr/>
        </p:nvSpPr>
        <p:spPr>
          <a:xfrm>
            <a:off x="4838985" y="3152148"/>
            <a:ext cx="28575" cy="1095375"/>
          </a:xfrm>
          <a:custGeom>
            <a:avLst/>
            <a:gdLst>
              <a:gd name="connsiteX0" fmla="*/ 14288 w 28575"/>
              <a:gd name="connsiteY0" fmla="*/ 14288 h 1095375"/>
              <a:gd name="connsiteX1" fmla="*/ 14288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8" y="14288"/>
                </a:moveTo>
                <a:lnTo>
                  <a:pt x="14288" y="1082802"/>
                </a:lnTo>
              </a:path>
            </a:pathLst>
          </a:custGeom>
          <a:ln w="19050" cap="flat">
            <a:solidFill>
              <a:srgbClr val="185ADB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21">
            <a:extLst>
              <a:ext uri="{FF2B5EF4-FFF2-40B4-BE49-F238E27FC236}">
                <a16:creationId xmlns:a16="http://schemas.microsoft.com/office/drawing/2014/main" xmlns="" id="{C4CB2738-454A-4961-9AB8-71B180044293}"/>
              </a:ext>
            </a:extLst>
          </p:cNvPr>
          <p:cNvSpPr/>
          <p:nvPr/>
        </p:nvSpPr>
        <p:spPr>
          <a:xfrm>
            <a:off x="6343840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2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887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7D46A9D2-3FF7-4F78-A944-0DD2233B96BD}"/>
              </a:ext>
            </a:extLst>
          </p:cNvPr>
          <p:cNvSpPr/>
          <p:nvPr/>
        </p:nvSpPr>
        <p:spPr>
          <a:xfrm>
            <a:off x="6663110" y="3997718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5 w 504825"/>
              <a:gd name="connsiteY1" fmla="*/ 506825 h 504825"/>
              <a:gd name="connsiteX2" fmla="*/ 7144 w 504825"/>
              <a:gd name="connsiteY2" fmla="*/ 256985 h 504825"/>
              <a:gd name="connsiteX3" fmla="*/ 256985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8" y="506825"/>
                  <a:pt x="256985" y="506825"/>
                </a:cubicBezTo>
                <a:cubicBezTo>
                  <a:pt x="119002" y="506825"/>
                  <a:pt x="7144" y="394968"/>
                  <a:pt x="7144" y="256985"/>
                </a:cubicBezTo>
                <a:cubicBezTo>
                  <a:pt x="7144" y="119001"/>
                  <a:pt x="119001" y="7144"/>
                  <a:pt x="256985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1">
            <a:extLst>
              <a:ext uri="{FF2B5EF4-FFF2-40B4-BE49-F238E27FC236}">
                <a16:creationId xmlns:a16="http://schemas.microsoft.com/office/drawing/2014/main" xmlns="" id="{67EEC671-119C-4DAD-AE3D-0FC04685D6B7}"/>
              </a:ext>
            </a:extLst>
          </p:cNvPr>
          <p:cNvSpPr/>
          <p:nvPr/>
        </p:nvSpPr>
        <p:spPr>
          <a:xfrm>
            <a:off x="6876192" y="4225901"/>
            <a:ext cx="28575" cy="1095375"/>
          </a:xfrm>
          <a:custGeom>
            <a:avLst/>
            <a:gdLst>
              <a:gd name="connsiteX0" fmla="*/ 14287 w 28575"/>
              <a:gd name="connsiteY0" fmla="*/ 14288 h 1095375"/>
              <a:gd name="connsiteX1" fmla="*/ 14287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7" y="14288"/>
                </a:moveTo>
                <a:lnTo>
                  <a:pt x="14287" y="1082802"/>
                </a:lnTo>
              </a:path>
            </a:pathLst>
          </a:custGeom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22">
            <a:extLst>
              <a:ext uri="{FF2B5EF4-FFF2-40B4-BE49-F238E27FC236}">
                <a16:creationId xmlns:a16="http://schemas.microsoft.com/office/drawing/2014/main" xmlns="" id="{A1F64971-CAB9-4C22-9178-1571F080B5D3}"/>
              </a:ext>
            </a:extLst>
          </p:cNvPr>
          <p:cNvSpPr/>
          <p:nvPr/>
        </p:nvSpPr>
        <p:spPr>
          <a:xfrm>
            <a:off x="8381046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3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983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27">
            <a:extLst>
              <a:ext uri="{FF2B5EF4-FFF2-40B4-BE49-F238E27FC236}">
                <a16:creationId xmlns:a16="http://schemas.microsoft.com/office/drawing/2014/main" xmlns="" id="{A1D7431E-7715-4328-8A2D-234982702BB8}"/>
              </a:ext>
            </a:extLst>
          </p:cNvPr>
          <p:cNvSpPr/>
          <p:nvPr/>
        </p:nvSpPr>
        <p:spPr>
          <a:xfrm>
            <a:off x="8670797" y="3983204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4 w 504825"/>
              <a:gd name="connsiteY1" fmla="*/ 506825 h 504825"/>
              <a:gd name="connsiteX2" fmla="*/ 7144 w 504825"/>
              <a:gd name="connsiteY2" fmla="*/ 256985 h 504825"/>
              <a:gd name="connsiteX3" fmla="*/ 256984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7" y="506825"/>
                  <a:pt x="256984" y="506825"/>
                </a:cubicBezTo>
                <a:cubicBezTo>
                  <a:pt x="119001" y="506825"/>
                  <a:pt x="7144" y="394968"/>
                  <a:pt x="7144" y="256985"/>
                </a:cubicBezTo>
                <a:cubicBezTo>
                  <a:pt x="7144" y="119001"/>
                  <a:pt x="119002" y="7144"/>
                  <a:pt x="256984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32">
            <a:extLst>
              <a:ext uri="{FF2B5EF4-FFF2-40B4-BE49-F238E27FC236}">
                <a16:creationId xmlns:a16="http://schemas.microsoft.com/office/drawing/2014/main" xmlns="" id="{DFE81F44-31DC-4E24-BD68-D036AFDCE427}"/>
              </a:ext>
            </a:extLst>
          </p:cNvPr>
          <p:cNvSpPr/>
          <p:nvPr/>
        </p:nvSpPr>
        <p:spPr>
          <a:xfrm>
            <a:off x="8913494" y="3152148"/>
            <a:ext cx="28575" cy="1095375"/>
          </a:xfrm>
          <a:custGeom>
            <a:avLst/>
            <a:gdLst>
              <a:gd name="connsiteX0" fmla="*/ 14287 w 28575"/>
              <a:gd name="connsiteY0" fmla="*/ 14288 h 1095375"/>
              <a:gd name="connsiteX1" fmla="*/ 14287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7" y="14288"/>
                </a:moveTo>
                <a:lnTo>
                  <a:pt x="14287" y="1082802"/>
                </a:lnTo>
              </a:path>
            </a:pathLst>
          </a:custGeom>
          <a:ln w="19050" cap="flat">
            <a:solidFill>
              <a:srgbClr val="185ADB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23">
            <a:extLst>
              <a:ext uri="{FF2B5EF4-FFF2-40B4-BE49-F238E27FC236}">
                <a16:creationId xmlns:a16="http://schemas.microsoft.com/office/drawing/2014/main" xmlns="" id="{1F944F54-24F0-4BB4-B9BD-F0C298026CA1}"/>
              </a:ext>
            </a:extLst>
          </p:cNvPr>
          <p:cNvSpPr/>
          <p:nvPr/>
        </p:nvSpPr>
        <p:spPr>
          <a:xfrm>
            <a:off x="10418254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3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983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28">
            <a:extLst>
              <a:ext uri="{FF2B5EF4-FFF2-40B4-BE49-F238E27FC236}">
                <a16:creationId xmlns:a16="http://schemas.microsoft.com/office/drawing/2014/main" xmlns="" id="{7C0A8B4E-FF67-454B-A05F-8EF549BDA180}"/>
              </a:ext>
            </a:extLst>
          </p:cNvPr>
          <p:cNvSpPr/>
          <p:nvPr/>
        </p:nvSpPr>
        <p:spPr>
          <a:xfrm>
            <a:off x="10708004" y="3983204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5 w 504825"/>
              <a:gd name="connsiteY1" fmla="*/ 506825 h 504825"/>
              <a:gd name="connsiteX2" fmla="*/ 7144 w 504825"/>
              <a:gd name="connsiteY2" fmla="*/ 256985 h 504825"/>
              <a:gd name="connsiteX3" fmla="*/ 256985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7" y="506825"/>
                  <a:pt x="256985" y="506825"/>
                </a:cubicBezTo>
                <a:cubicBezTo>
                  <a:pt x="119001" y="506825"/>
                  <a:pt x="7144" y="394968"/>
                  <a:pt x="7144" y="256985"/>
                </a:cubicBezTo>
                <a:cubicBezTo>
                  <a:pt x="7144" y="119001"/>
                  <a:pt x="119002" y="7144"/>
                  <a:pt x="256985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33">
            <a:extLst>
              <a:ext uri="{FF2B5EF4-FFF2-40B4-BE49-F238E27FC236}">
                <a16:creationId xmlns:a16="http://schemas.microsoft.com/office/drawing/2014/main" xmlns="" id="{43066AC1-80A5-4994-9691-255D9B4389BD}"/>
              </a:ext>
            </a:extLst>
          </p:cNvPr>
          <p:cNvSpPr/>
          <p:nvPr/>
        </p:nvSpPr>
        <p:spPr>
          <a:xfrm>
            <a:off x="10950701" y="4225901"/>
            <a:ext cx="28575" cy="1095375"/>
          </a:xfrm>
          <a:custGeom>
            <a:avLst/>
            <a:gdLst>
              <a:gd name="connsiteX0" fmla="*/ 14288 w 28575"/>
              <a:gd name="connsiteY0" fmla="*/ 14288 h 1095375"/>
              <a:gd name="connsiteX1" fmla="*/ 14288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8" y="14288"/>
                </a:moveTo>
                <a:lnTo>
                  <a:pt x="14288" y="1082802"/>
                </a:lnTo>
              </a:path>
            </a:pathLst>
          </a:custGeom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D1B1E611-7105-44B9-A5BA-0E475648C821}"/>
              </a:ext>
            </a:extLst>
          </p:cNvPr>
          <p:cNvSpPr/>
          <p:nvPr/>
        </p:nvSpPr>
        <p:spPr>
          <a:xfrm>
            <a:off x="1570194" y="5421098"/>
            <a:ext cx="24825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Make available to users a catalog of all the essential machines in the intensive care unit.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5AAEE324-846A-481C-8C41-EE451358C250}"/>
              </a:ext>
            </a:extLst>
          </p:cNvPr>
          <p:cNvSpPr/>
          <p:nvPr/>
        </p:nvSpPr>
        <p:spPr>
          <a:xfrm>
            <a:off x="5304567" y="5319085"/>
            <a:ext cx="307647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In the event of loss of the patient's medical file, it would be impossible to have access to the patient's medical history, thus leading to a wrong diagnosis by the doctor, which could lead to the administration of the wrong treatment.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E4AFEBD4-28B0-48F2-8CE4-07B3AF66981B}"/>
              </a:ext>
            </a:extLst>
          </p:cNvPr>
          <p:cNvSpPr/>
          <p:nvPr/>
        </p:nvSpPr>
        <p:spPr>
          <a:xfrm>
            <a:off x="9466896" y="5253934"/>
            <a:ext cx="272510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Loss of the prescription or follow-up sheets that could cause confusion about the treatment that the patient should normally receive</a:t>
            </a:r>
            <a:r>
              <a:rPr lang="en-US" dirty="0"/>
              <a:t>.</a:t>
            </a:r>
            <a:endParaRPr lang="fr-FR" dirty="0"/>
          </a:p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9FFF0077-345E-4065-88C3-E6E9EABDE083}"/>
              </a:ext>
            </a:extLst>
          </p:cNvPr>
          <p:cNvSpPr/>
          <p:nvPr/>
        </p:nvSpPr>
        <p:spPr>
          <a:xfrm>
            <a:off x="3805328" y="1674820"/>
            <a:ext cx="24825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Poor transmission of information causing errors in medical prescriptions and in the administration of care.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6166843E-6759-4122-AA61-2139DD0C84D9}"/>
              </a:ext>
            </a:extLst>
          </p:cNvPr>
          <p:cNvSpPr/>
          <p:nvPr/>
        </p:nvSpPr>
        <p:spPr>
          <a:xfrm>
            <a:off x="7672195" y="2126674"/>
            <a:ext cx="2482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repetitive tasks leading to wasted time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0" name="Freeform: Shape 86">
            <a:extLst>
              <a:ext uri="{FF2B5EF4-FFF2-40B4-BE49-F238E27FC236}">
                <a16:creationId xmlns:a16="http://schemas.microsoft.com/office/drawing/2014/main" xmlns="" id="{798CADB7-B8B8-4EAE-8F10-B49B6670FDC8}"/>
              </a:ext>
            </a:extLst>
          </p:cNvPr>
          <p:cNvSpPr/>
          <p:nvPr/>
        </p:nvSpPr>
        <p:spPr>
          <a:xfrm>
            <a:off x="2766079" y="1806567"/>
            <a:ext cx="357282" cy="114042"/>
          </a:xfrm>
          <a:custGeom>
            <a:avLst/>
            <a:gdLst>
              <a:gd name="connsiteX0" fmla="*/ 183928 w 190500"/>
              <a:gd name="connsiteY0" fmla="*/ 95536 h 190500"/>
              <a:gd name="connsiteX1" fmla="*/ 95536 w 190500"/>
              <a:gd name="connsiteY1" fmla="*/ 183928 h 190500"/>
              <a:gd name="connsiteX2" fmla="*/ 7144 w 190500"/>
              <a:gd name="connsiteY2" fmla="*/ 95536 h 190500"/>
              <a:gd name="connsiteX3" fmla="*/ 95536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6" y="183928"/>
                </a:cubicBezTo>
                <a:cubicBezTo>
                  <a:pt x="46718" y="183928"/>
                  <a:pt x="7144" y="144353"/>
                  <a:pt x="7144" y="95536"/>
                </a:cubicBezTo>
                <a:cubicBezTo>
                  <a:pt x="7144" y="46718"/>
                  <a:pt x="46718" y="7144"/>
                  <a:pt x="95536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88">
            <a:extLst>
              <a:ext uri="{FF2B5EF4-FFF2-40B4-BE49-F238E27FC236}">
                <a16:creationId xmlns:a16="http://schemas.microsoft.com/office/drawing/2014/main" xmlns="" id="{50F2AECE-4F95-4A67-A7AC-0745E569C6DB}"/>
              </a:ext>
            </a:extLst>
          </p:cNvPr>
          <p:cNvSpPr/>
          <p:nvPr/>
        </p:nvSpPr>
        <p:spPr>
          <a:xfrm>
            <a:off x="8716899" y="6448703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4"/>
                  <a:pt x="7143" y="95536"/>
                </a:cubicBezTo>
                <a:cubicBezTo>
                  <a:pt x="7143" y="46719"/>
                  <a:pt x="46717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5" name="Image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183" y="0"/>
            <a:ext cx="3908660" cy="21212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6" name="ZoneTexte 55"/>
          <p:cNvSpPr txBox="1"/>
          <p:nvPr/>
        </p:nvSpPr>
        <p:spPr>
          <a:xfrm>
            <a:off x="3274798" y="119030"/>
            <a:ext cx="493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SOLUTIONS PROPOSED</a:t>
            </a:r>
            <a:endParaRPr lang="fr-FR" sz="2800" b="1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50" y="19937"/>
            <a:ext cx="3213494" cy="35064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14004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chemeClr val="bg1"/>
            </a:gs>
            <a:gs pos="17000">
              <a:schemeClr val="bg1"/>
            </a:gs>
            <a:gs pos="100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369177" y="1712714"/>
            <a:ext cx="6442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3600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MODELING TOOLS</a:t>
            </a:r>
          </a:p>
          <a:p>
            <a:endParaRPr lang="fr-FR" sz="2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Espace réservé du contenu 7">
            <a:extLst>
              <a:ext uri="{FF2B5EF4-FFF2-40B4-BE49-F238E27FC236}">
                <a16:creationId xmlns:a16="http://schemas.microsoft.com/office/drawing/2014/main" xmlns="" id="{7213DE05-BE13-4AF6-827C-57FD3A629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14" y="2619472"/>
            <a:ext cx="4339751" cy="41501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à coins arrondis 8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786305" y="3675237"/>
            <a:ext cx="2050473" cy="775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20989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2TUP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xmlns="" id="{95504EEF-9FFF-4C9F-9F16-51EAA47DED1B}"/>
              </a:ext>
            </a:extLst>
          </p:cNvPr>
          <p:cNvGrpSpPr/>
          <p:nvPr/>
        </p:nvGrpSpPr>
        <p:grpSpPr>
          <a:xfrm>
            <a:off x="641007" y="130455"/>
            <a:ext cx="11048999" cy="1263480"/>
            <a:chOff x="413054" y="135497"/>
            <a:chExt cx="12894425" cy="1276314"/>
          </a:xfrm>
          <a:solidFill>
            <a:srgbClr val="00B050"/>
          </a:solidFill>
        </p:grpSpPr>
        <p:sp>
          <p:nvSpPr>
            <p:cNvPr id="14" name="Signalisation droite 5">
              <a:extLst>
                <a:ext uri="{FF2B5EF4-FFF2-40B4-BE49-F238E27FC236}">
                  <a16:creationId xmlns:a16="http://schemas.microsoft.com/office/drawing/2014/main" xmlns="" id="{BE092505-8B09-B74D-AB5D-F737400CEEDB}"/>
                </a:ext>
              </a:extLst>
            </p:cNvPr>
            <p:cNvSpPr/>
            <p:nvPr/>
          </p:nvSpPr>
          <p:spPr>
            <a:xfrm>
              <a:off x="1675627" y="135497"/>
              <a:ext cx="11631852" cy="1276314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METHODOLOGY AND ARCHITECTURE USED</a:t>
              </a:r>
              <a:endParaRPr lang="fr-FR" sz="4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Larme 14">
              <a:extLst>
                <a:ext uri="{FF2B5EF4-FFF2-40B4-BE49-F238E27FC236}">
                  <a16:creationId xmlns:a16="http://schemas.microsoft.com/office/drawing/2014/main" xmlns="" id="{D9D66D36-2DC1-4453-91F8-DFC07EE7998C}"/>
                </a:ext>
              </a:extLst>
            </p:cNvPr>
            <p:cNvSpPr/>
            <p:nvPr/>
          </p:nvSpPr>
          <p:spPr>
            <a:xfrm>
              <a:off x="413054" y="184082"/>
              <a:ext cx="1262573" cy="1227728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>
                  <a:solidFill>
                    <a:prstClr val="white"/>
                  </a:solidFill>
                </a:rPr>
                <a:t>4</a:t>
              </a:r>
            </a:p>
          </p:txBody>
        </p:sp>
      </p:grpSp>
      <p:sp>
        <p:nvSpPr>
          <p:cNvPr id="17" name="Flèche droite 16"/>
          <p:cNvSpPr/>
          <p:nvPr/>
        </p:nvSpPr>
        <p:spPr>
          <a:xfrm>
            <a:off x="4864934" y="5109029"/>
            <a:ext cx="1367083" cy="1447199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8983"/>
          <p:cNvPicPr/>
          <p:nvPr/>
        </p:nvPicPr>
        <p:blipFill>
          <a:blip r:embed="rId3"/>
          <a:stretch>
            <a:fillRect/>
          </a:stretch>
        </p:blipFill>
        <p:spPr>
          <a:xfrm>
            <a:off x="6706444" y="1935328"/>
            <a:ext cx="5189220" cy="445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36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853127" y="14457"/>
            <a:ext cx="11519415" cy="1294342"/>
            <a:chOff x="853127" y="14457"/>
            <a:chExt cx="11519415" cy="1294342"/>
          </a:xfrm>
        </p:grpSpPr>
        <p:sp>
          <p:nvSpPr>
            <p:cNvPr id="6" name="ZoneTexte 5"/>
            <p:cNvSpPr txBox="1"/>
            <p:nvPr/>
          </p:nvSpPr>
          <p:spPr>
            <a:xfrm>
              <a:off x="853127" y="332509"/>
              <a:ext cx="7079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lvl="1" indent="-457200">
                <a:buFont typeface="Wingdings" panose="05000000000000000000" pitchFamily="2" charset="2"/>
                <a:buChar char="q"/>
              </a:pPr>
              <a:r>
                <a:rPr lang="fr-FR" sz="2800" b="1" dirty="0">
                  <a:solidFill>
                    <a:srgbClr val="00B0F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PRESENTATION </a:t>
              </a:r>
              <a:r>
                <a:rPr lang="fr-FR" sz="2800" b="1" dirty="0" smtClean="0">
                  <a:solidFill>
                    <a:srgbClr val="00B0F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OF </a:t>
              </a:r>
              <a:r>
                <a:rPr lang="fr-FR" sz="2800" b="1" dirty="0">
                  <a:solidFill>
                    <a:srgbClr val="00B0F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DIAGRAMS</a:t>
              </a:r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xmlns="" id="{8D9007A0-0D8A-45BA-9338-DC83EE86B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5379" y="14457"/>
              <a:ext cx="1397163" cy="1294342"/>
            </a:xfrm>
            <a:prstGeom prst="rect">
              <a:avLst/>
            </a:prstGeom>
          </p:spPr>
        </p:pic>
      </p:grpSp>
      <p:sp>
        <p:nvSpPr>
          <p:cNvPr id="10" name="Flèche droite 9"/>
          <p:cNvSpPr/>
          <p:nvPr/>
        </p:nvSpPr>
        <p:spPr>
          <a:xfrm>
            <a:off x="0" y="2519265"/>
            <a:ext cx="1872343" cy="2168849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1903A-58DF-6D41-AA0F-B39FBAFEBD29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43" y="1001486"/>
            <a:ext cx="10058400" cy="5856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8944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5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0" y="2801257"/>
            <a:ext cx="1915886" cy="2123603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SEQUENCE DIAGRAM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28D80BCA-D8F9-39EA-5E88-0CF0D9126DA5}"/>
              </a:ext>
            </a:extLst>
          </p:cNvPr>
          <p:cNvSpPr txBox="1"/>
          <p:nvPr/>
        </p:nvSpPr>
        <p:spPr>
          <a:xfrm>
            <a:off x="7201047" y="123335"/>
            <a:ext cx="4374653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</a:rPr>
              <a:t>CONSULT MEDICAL FILE</a:t>
            </a:r>
            <a:endParaRPr lang="fr-CM" sz="2400" dirty="0">
              <a:solidFill>
                <a:schemeClr val="bg1"/>
              </a:solidFill>
            </a:endParaRPr>
          </a:p>
        </p:txBody>
      </p:sp>
      <p:pic>
        <p:nvPicPr>
          <p:cNvPr id="8" name="Imag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144" y="711199"/>
            <a:ext cx="9666514" cy="6146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53575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1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1" y="3025467"/>
            <a:ext cx="2017486" cy="1870365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28D80BCA-D8F9-39EA-5E88-0CF0D9126DA5}"/>
              </a:ext>
            </a:extLst>
          </p:cNvPr>
          <p:cNvSpPr txBox="1"/>
          <p:nvPr/>
        </p:nvSpPr>
        <p:spPr>
          <a:xfrm>
            <a:off x="7317162" y="123335"/>
            <a:ext cx="4374653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REGISTER PATIENT</a:t>
            </a:r>
            <a:endParaRPr lang="fr-CM" sz="2400" dirty="0">
              <a:solidFill>
                <a:schemeClr val="bg1"/>
              </a:solidFill>
            </a:endParaRPr>
          </a:p>
        </p:txBody>
      </p:sp>
      <p:pic>
        <p:nvPicPr>
          <p:cNvPr id="8" name="Imag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585000"/>
            <a:ext cx="9558214" cy="5712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652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9000">
              <a:srgbClr val="368E79">
                <a:tint val="23500"/>
                <a:satMod val="160000"/>
                <a:lumMod val="0"/>
                <a:lumOff val="100000"/>
                <a:alpha val="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1" y="2981924"/>
            <a:ext cx="1782642" cy="1870365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 DIAGRAM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371" y="0"/>
            <a:ext cx="955720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305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9000">
              <a:srgbClr val="368E79">
                <a:tint val="23500"/>
                <a:satMod val="160000"/>
                <a:lumMod val="0"/>
                <a:lumOff val="100000"/>
                <a:alpha val="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-28166" y="3286724"/>
            <a:ext cx="2335937" cy="1981962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DEPLOYMENT  DIAGRAM 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14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3335"/>
            <a:ext cx="9884229" cy="6640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9784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èche droite 9">
            <a:extLst>
              <a:ext uri="{FF2B5EF4-FFF2-40B4-BE49-F238E27FC236}">
                <a16:creationId xmlns:a16="http://schemas.microsoft.com/office/drawing/2014/main" xmlns="" id="{7797BFE7-2B51-4480-75CA-8D9737337D33}"/>
              </a:ext>
            </a:extLst>
          </p:cNvPr>
          <p:cNvSpPr/>
          <p:nvPr/>
        </p:nvSpPr>
        <p:spPr>
          <a:xfrm>
            <a:off x="-2" y="2540711"/>
            <a:ext cx="3077031" cy="3335701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PHYSICAL ARCHITECHTURE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47964" y="-78287"/>
            <a:ext cx="65239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4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ARCHITCTURE</a:t>
            </a:r>
          </a:p>
          <a:p>
            <a:endParaRPr lang="fr-FR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11458575" y="6297562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711" y="1123004"/>
            <a:ext cx="8422005" cy="5256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3877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èche droite 9">
            <a:extLst>
              <a:ext uri="{FF2B5EF4-FFF2-40B4-BE49-F238E27FC236}">
                <a16:creationId xmlns:a16="http://schemas.microsoft.com/office/drawing/2014/main" xmlns="" id="{7797BFE7-2B51-4480-75CA-8D9737337D33}"/>
              </a:ext>
            </a:extLst>
          </p:cNvPr>
          <p:cNvSpPr/>
          <p:nvPr/>
        </p:nvSpPr>
        <p:spPr>
          <a:xfrm>
            <a:off x="0" y="2921023"/>
            <a:ext cx="3263901" cy="2006600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ARCHITECHTURE  LOGIC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xmlns="" id="{20AB6750-46F0-D5FC-491D-EF376E85B347}"/>
              </a:ext>
            </a:extLst>
          </p:cNvPr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0" y="105594"/>
            <a:ext cx="50899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4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ARCHITCTURE</a:t>
            </a:r>
          </a:p>
          <a:p>
            <a:endParaRPr lang="fr-FR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99" y="2897426"/>
            <a:ext cx="7500257" cy="38226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4737100" y="982031"/>
            <a:ext cx="7454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/>
              <a:t>WE WILL BASE OUR APPLICATION LOGIC ON THE VIEW TEMPLATE (MVT) PATTERN, A VARIATION OF THE MVC (MODEL-VIEW-CONTROLLER) DESIGN PATTERN THAT IS COMMONLY USED IN WEB APPLICATION DEVELOPMENT, PARTICULARLY WITH FRAMEWORKS SUCH AS DJANGO (FOR PYTHON) OR RUBY ON RAILS (FOR RUBY). </a:t>
            </a:r>
            <a:r>
              <a:rPr lang="fr-CM" sz="2000" dirty="0" smtClean="0"/>
              <a:t>THIS APPROACH IS PRIMARILY ASSOCIATED WITH DJANGO.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148469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xmlns="" id="{95504EEF-9FFF-4C9F-9F16-51EAA47DED1B}"/>
              </a:ext>
            </a:extLst>
          </p:cNvPr>
          <p:cNvGrpSpPr/>
          <p:nvPr/>
        </p:nvGrpSpPr>
        <p:grpSpPr>
          <a:xfrm>
            <a:off x="641007" y="187569"/>
            <a:ext cx="11048999" cy="1263479"/>
            <a:chOff x="413054" y="135497"/>
            <a:chExt cx="12894425" cy="1276313"/>
          </a:xfrm>
          <a:solidFill>
            <a:srgbClr val="00B0F0"/>
          </a:solidFill>
        </p:grpSpPr>
        <p:sp>
          <p:nvSpPr>
            <p:cNvPr id="8" name="Signalisation droite 5">
              <a:extLst>
                <a:ext uri="{FF2B5EF4-FFF2-40B4-BE49-F238E27FC236}">
                  <a16:creationId xmlns:a16="http://schemas.microsoft.com/office/drawing/2014/main" xmlns="" id="{BE092505-8B09-B74D-AB5D-F737400CEEDB}"/>
                </a:ext>
              </a:extLst>
            </p:cNvPr>
            <p:cNvSpPr/>
            <p:nvPr/>
          </p:nvSpPr>
          <p:spPr>
            <a:xfrm>
              <a:off x="1675627" y="135497"/>
              <a:ext cx="11631852" cy="947184"/>
            </a:xfrm>
            <a:prstGeom prst="homePlat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TECHNOLOGY USES</a:t>
              </a:r>
              <a:endParaRPr lang="fr-FR" sz="4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Larme 8">
              <a:extLst>
                <a:ext uri="{FF2B5EF4-FFF2-40B4-BE49-F238E27FC236}">
                  <a16:creationId xmlns:a16="http://schemas.microsoft.com/office/drawing/2014/main" xmlns="" id="{D9D66D36-2DC1-4453-91F8-DFC07EE7998C}"/>
                </a:ext>
              </a:extLst>
            </p:cNvPr>
            <p:cNvSpPr/>
            <p:nvPr/>
          </p:nvSpPr>
          <p:spPr>
            <a:xfrm>
              <a:off x="413054" y="184082"/>
              <a:ext cx="1262573" cy="1227728"/>
            </a:xfrm>
            <a:prstGeom prst="teardrop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>
                  <a:solidFill>
                    <a:prstClr val="white"/>
                  </a:solidFill>
                </a:rPr>
                <a:t>5</a:t>
              </a:r>
            </a:p>
          </p:txBody>
        </p:sp>
      </p:grpSp>
      <p:sp>
        <p:nvSpPr>
          <p:cNvPr id="74" name="Freeform: Shape 3">
            <a:extLst>
              <a:ext uri="{FF2B5EF4-FFF2-40B4-BE49-F238E27FC236}">
                <a16:creationId xmlns:a16="http://schemas.microsoft.com/office/drawing/2014/main" xmlns="" id="{443E86A6-1C34-4C7A-A24E-DF3058EA68A1}"/>
              </a:ext>
            </a:extLst>
          </p:cNvPr>
          <p:cNvSpPr/>
          <p:nvPr/>
        </p:nvSpPr>
        <p:spPr>
          <a:xfrm>
            <a:off x="11803094" y="88153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4">
            <a:extLst>
              <a:ext uri="{FF2B5EF4-FFF2-40B4-BE49-F238E27FC236}">
                <a16:creationId xmlns:a16="http://schemas.microsoft.com/office/drawing/2014/main" xmlns="" id="{6A6C6217-2D0B-4BD3-8A13-B70D2F4D3FC4}"/>
              </a:ext>
            </a:extLst>
          </p:cNvPr>
          <p:cNvSpPr/>
          <p:nvPr/>
        </p:nvSpPr>
        <p:spPr>
          <a:xfrm>
            <a:off x="11143107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5">
            <a:extLst>
              <a:ext uri="{FF2B5EF4-FFF2-40B4-BE49-F238E27FC236}">
                <a16:creationId xmlns:a16="http://schemas.microsoft.com/office/drawing/2014/main" xmlns="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6">
            <a:extLst>
              <a:ext uri="{FF2B5EF4-FFF2-40B4-BE49-F238E27FC236}">
                <a16:creationId xmlns:a16="http://schemas.microsoft.com/office/drawing/2014/main" xmlns="" id="{63E43D3A-D858-48EC-A3B5-DA67C4FDB697}"/>
              </a:ext>
            </a:extLst>
          </p:cNvPr>
          <p:cNvSpPr/>
          <p:nvPr/>
        </p:nvSpPr>
        <p:spPr>
          <a:xfrm>
            <a:off x="1868424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">
            <a:extLst>
              <a:ext uri="{FF2B5EF4-FFF2-40B4-BE49-F238E27FC236}">
                <a16:creationId xmlns:a16="http://schemas.microsoft.com/office/drawing/2014/main" xmlns="" id="{822E4A63-C8A0-482C-8609-11E58E69B5B7}"/>
              </a:ext>
            </a:extLst>
          </p:cNvPr>
          <p:cNvSpPr/>
          <p:nvPr/>
        </p:nvSpPr>
        <p:spPr>
          <a:xfrm>
            <a:off x="3167253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8">
            <a:extLst>
              <a:ext uri="{FF2B5EF4-FFF2-40B4-BE49-F238E27FC236}">
                <a16:creationId xmlns:a16="http://schemas.microsoft.com/office/drawing/2014/main" xmlns="" id="{199B7924-7E39-4047-9708-3572AFBB47CC}"/>
              </a:ext>
            </a:extLst>
          </p:cNvPr>
          <p:cNvSpPr/>
          <p:nvPr/>
        </p:nvSpPr>
        <p:spPr>
          <a:xfrm>
            <a:off x="205169" y="47472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9">
            <a:extLst>
              <a:ext uri="{FF2B5EF4-FFF2-40B4-BE49-F238E27FC236}">
                <a16:creationId xmlns:a16="http://schemas.microsoft.com/office/drawing/2014/main" xmlns="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10">
            <a:extLst>
              <a:ext uri="{FF2B5EF4-FFF2-40B4-BE49-F238E27FC236}">
                <a16:creationId xmlns:a16="http://schemas.microsoft.com/office/drawing/2014/main" xmlns="" id="{6846DFC9-43BE-4A38-9A39-DD293513A94C}"/>
              </a:ext>
            </a:extLst>
          </p:cNvPr>
          <p:cNvSpPr/>
          <p:nvPr/>
        </p:nvSpPr>
        <p:spPr>
          <a:xfrm>
            <a:off x="154781" y="288064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11">
            <a:extLst>
              <a:ext uri="{FF2B5EF4-FFF2-40B4-BE49-F238E27FC236}">
                <a16:creationId xmlns:a16="http://schemas.microsoft.com/office/drawing/2014/main" xmlns="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12">
            <a:extLst>
              <a:ext uri="{FF2B5EF4-FFF2-40B4-BE49-F238E27FC236}">
                <a16:creationId xmlns:a16="http://schemas.microsoft.com/office/drawing/2014/main" xmlns="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13">
            <a:extLst>
              <a:ext uri="{FF2B5EF4-FFF2-40B4-BE49-F238E27FC236}">
                <a16:creationId xmlns:a16="http://schemas.microsoft.com/office/drawing/2014/main" xmlns="" id="{1C468777-36FA-4346-ACDB-8D23EDF69281}"/>
              </a:ext>
            </a:extLst>
          </p:cNvPr>
          <p:cNvSpPr/>
          <p:nvPr/>
        </p:nvSpPr>
        <p:spPr>
          <a:xfrm>
            <a:off x="9331166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14">
            <a:extLst>
              <a:ext uri="{FF2B5EF4-FFF2-40B4-BE49-F238E27FC236}">
                <a16:creationId xmlns:a16="http://schemas.microsoft.com/office/drawing/2014/main" xmlns="" id="{8E8B03FF-DF8E-49C6-A6EB-9172D8AD0A84}"/>
              </a:ext>
            </a:extLst>
          </p:cNvPr>
          <p:cNvSpPr/>
          <p:nvPr/>
        </p:nvSpPr>
        <p:spPr>
          <a:xfrm>
            <a:off x="1178528" y="2123236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0B05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15">
            <a:extLst>
              <a:ext uri="{FF2B5EF4-FFF2-40B4-BE49-F238E27FC236}">
                <a16:creationId xmlns:a16="http://schemas.microsoft.com/office/drawing/2014/main" xmlns="" id="{07D5DC7A-7FD1-4211-AD55-A207A4BEC919}"/>
              </a:ext>
            </a:extLst>
          </p:cNvPr>
          <p:cNvSpPr/>
          <p:nvPr/>
        </p:nvSpPr>
        <p:spPr>
          <a:xfrm>
            <a:off x="3054991" y="2123236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16">
            <a:extLst>
              <a:ext uri="{FF2B5EF4-FFF2-40B4-BE49-F238E27FC236}">
                <a16:creationId xmlns:a16="http://schemas.microsoft.com/office/drawing/2014/main" xmlns="" id="{76F36684-1F98-4E1E-A8A7-1CFF2D3B1A5E}"/>
              </a:ext>
            </a:extLst>
          </p:cNvPr>
          <p:cNvSpPr/>
          <p:nvPr/>
        </p:nvSpPr>
        <p:spPr>
          <a:xfrm>
            <a:off x="5061125" y="2112872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4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4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FFC947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17">
            <a:extLst>
              <a:ext uri="{FF2B5EF4-FFF2-40B4-BE49-F238E27FC236}">
                <a16:creationId xmlns:a16="http://schemas.microsoft.com/office/drawing/2014/main" xmlns="" id="{FEBAE8B6-75FC-4C89-8800-9D3D93CC603F}"/>
              </a:ext>
            </a:extLst>
          </p:cNvPr>
          <p:cNvSpPr/>
          <p:nvPr/>
        </p:nvSpPr>
        <p:spPr>
          <a:xfrm>
            <a:off x="7250394" y="2123236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18">
            <a:extLst>
              <a:ext uri="{FF2B5EF4-FFF2-40B4-BE49-F238E27FC236}">
                <a16:creationId xmlns:a16="http://schemas.microsoft.com/office/drawing/2014/main" xmlns="" id="{33753421-0225-4BA9-8E13-6E341514CE2B}"/>
              </a:ext>
            </a:extLst>
          </p:cNvPr>
          <p:cNvSpPr/>
          <p:nvPr/>
        </p:nvSpPr>
        <p:spPr>
          <a:xfrm>
            <a:off x="9324353" y="2077230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0B05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xmlns="" id="{2F345A39-B59D-495F-87A2-C7D10E91BCD0}"/>
              </a:ext>
            </a:extLst>
          </p:cNvPr>
          <p:cNvGrpSpPr/>
          <p:nvPr/>
        </p:nvGrpSpPr>
        <p:grpSpPr>
          <a:xfrm>
            <a:off x="1175297" y="3233782"/>
            <a:ext cx="1554190" cy="1778294"/>
            <a:chOff x="1176913" y="3736015"/>
            <a:chExt cx="1554190" cy="1778294"/>
          </a:xfrm>
        </p:grpSpPr>
        <p:sp>
          <p:nvSpPr>
            <p:cNvPr id="92" name="TextBox 1">
              <a:extLst>
                <a:ext uri="{FF2B5EF4-FFF2-40B4-BE49-F238E27FC236}">
                  <a16:creationId xmlns:a16="http://schemas.microsoft.com/office/drawing/2014/main" xmlns="" id="{9B2A314E-0AA8-49A7-AA7D-45730114BD0C}"/>
                </a:ext>
              </a:extLst>
            </p:cNvPr>
            <p:cNvSpPr txBox="1"/>
            <p:nvPr/>
          </p:nvSpPr>
          <p:spPr>
            <a:xfrm>
              <a:off x="1271257" y="3736015"/>
              <a:ext cx="13655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Google chrome: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xmlns="" id="{5A821B21-E09A-4FA0-99FB-21821B930DC4}"/>
                </a:ext>
              </a:extLst>
            </p:cNvPr>
            <p:cNvSpPr/>
            <p:nvPr/>
          </p:nvSpPr>
          <p:spPr>
            <a:xfrm>
              <a:off x="1176913" y="4313980"/>
              <a:ext cx="155419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Web </a:t>
              </a:r>
              <a:r>
                <a:rPr lang="en-US" dirty="0"/>
                <a:t>browser for testing and deploying web </a:t>
              </a:r>
              <a:r>
                <a:rPr lang="en-US" dirty="0" smtClean="0"/>
                <a:t>applications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94" name="Group 46">
            <a:extLst>
              <a:ext uri="{FF2B5EF4-FFF2-40B4-BE49-F238E27FC236}">
                <a16:creationId xmlns:a16="http://schemas.microsoft.com/office/drawing/2014/main" xmlns="" id="{12C86613-6B20-457F-9E43-11A4BC413012}"/>
              </a:ext>
            </a:extLst>
          </p:cNvPr>
          <p:cNvGrpSpPr/>
          <p:nvPr/>
        </p:nvGrpSpPr>
        <p:grpSpPr>
          <a:xfrm>
            <a:off x="5013465" y="3076239"/>
            <a:ext cx="1554190" cy="2181326"/>
            <a:chOff x="4490561" y="4194758"/>
            <a:chExt cx="1554190" cy="2181326"/>
          </a:xfrm>
        </p:grpSpPr>
        <p:sp>
          <p:nvSpPr>
            <p:cNvPr id="95" name="TextBox 21">
              <a:extLst>
                <a:ext uri="{FF2B5EF4-FFF2-40B4-BE49-F238E27FC236}">
                  <a16:creationId xmlns:a16="http://schemas.microsoft.com/office/drawing/2014/main" xmlns="" id="{9B427566-D4DF-4204-B31F-6CEAE61A5971}"/>
                </a:ext>
              </a:extLst>
            </p:cNvPr>
            <p:cNvSpPr txBox="1"/>
            <p:nvPr/>
          </p:nvSpPr>
          <p:spPr>
            <a:xfrm>
              <a:off x="4583197" y="4194758"/>
              <a:ext cx="12623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Gantt Project:</a:t>
              </a:r>
              <a:r>
                <a:rPr lang="en-US" sz="1400" dirty="0"/>
                <a:t> </a:t>
              </a:r>
              <a:endParaRPr 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xmlns="" id="{6288F451-AD38-4A6C-9CCA-32EBFA160AE2}"/>
                </a:ext>
              </a:extLst>
            </p:cNvPr>
            <p:cNvSpPr/>
            <p:nvPr/>
          </p:nvSpPr>
          <p:spPr>
            <a:xfrm>
              <a:off x="4490561" y="4621758"/>
              <a:ext cx="155419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Project </a:t>
              </a:r>
              <a:r>
                <a:rPr lang="en-US" dirty="0"/>
                <a:t>management tool to create Gantt charts, plan tasks and track progress.</a:t>
              </a:r>
              <a:r>
                <a:rPr lang="fr-FR" sz="1400" b="1" dirty="0" smtClean="0">
                  <a:solidFill>
                    <a:schemeClr val="bg2">
                      <a:lumMod val="75000"/>
                    </a:schemeClr>
                  </a:solidFill>
                </a:rPr>
                <a:t>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97" name="Group 48">
            <a:extLst>
              <a:ext uri="{FF2B5EF4-FFF2-40B4-BE49-F238E27FC236}">
                <a16:creationId xmlns:a16="http://schemas.microsoft.com/office/drawing/2014/main" xmlns="" id="{526D5F93-C11B-4B5A-96A8-E8188074FA55}"/>
              </a:ext>
            </a:extLst>
          </p:cNvPr>
          <p:cNvGrpSpPr/>
          <p:nvPr/>
        </p:nvGrpSpPr>
        <p:grpSpPr>
          <a:xfrm>
            <a:off x="9252603" y="2963594"/>
            <a:ext cx="1554190" cy="2763180"/>
            <a:chOff x="7800980" y="3889903"/>
            <a:chExt cx="1554190" cy="2763180"/>
          </a:xfrm>
        </p:grpSpPr>
        <p:sp>
          <p:nvSpPr>
            <p:cNvPr id="98" name="TextBox 23">
              <a:extLst>
                <a:ext uri="{FF2B5EF4-FFF2-40B4-BE49-F238E27FC236}">
                  <a16:creationId xmlns:a16="http://schemas.microsoft.com/office/drawing/2014/main" xmlns="" id="{1FE0A846-7469-4816-A95F-8AB504C06A6D}"/>
                </a:ext>
              </a:extLst>
            </p:cNvPr>
            <p:cNvSpPr txBox="1"/>
            <p:nvPr/>
          </p:nvSpPr>
          <p:spPr>
            <a:xfrm>
              <a:off x="7976943" y="3889903"/>
              <a:ext cx="11081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 err="1"/>
                <a:t>PowerAMC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xmlns="" id="{AC8DAF17-A437-4215-AE43-37E51DD3EA03}"/>
                </a:ext>
              </a:extLst>
            </p:cNvPr>
            <p:cNvSpPr/>
            <p:nvPr/>
          </p:nvSpPr>
          <p:spPr>
            <a:xfrm>
              <a:off x="7800980" y="4621758"/>
              <a:ext cx="155419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 </a:t>
              </a:r>
              <a:r>
                <a:rPr lang="en-US" dirty="0"/>
                <a:t>Modeling tool for designing databases and information systems (UML, MCD, MLD models).</a:t>
              </a:r>
              <a:r>
                <a:rPr lang="fr-FR" sz="1400" b="1" dirty="0" smtClean="0">
                  <a:solidFill>
                    <a:schemeClr val="bg2">
                      <a:lumMod val="75000"/>
                    </a:schemeClr>
                  </a:solidFill>
                </a:rPr>
                <a:t>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00" name="Group 45">
            <a:extLst>
              <a:ext uri="{FF2B5EF4-FFF2-40B4-BE49-F238E27FC236}">
                <a16:creationId xmlns:a16="http://schemas.microsoft.com/office/drawing/2014/main" xmlns="" id="{3DF71FE6-319D-4F7D-9729-21BC6DF8731C}"/>
              </a:ext>
            </a:extLst>
          </p:cNvPr>
          <p:cNvGrpSpPr/>
          <p:nvPr/>
        </p:nvGrpSpPr>
        <p:grpSpPr>
          <a:xfrm>
            <a:off x="2984856" y="3105906"/>
            <a:ext cx="1554190" cy="2369880"/>
            <a:chOff x="2832929" y="2140133"/>
            <a:chExt cx="1554190" cy="2369880"/>
          </a:xfrm>
        </p:grpSpPr>
        <p:sp>
          <p:nvSpPr>
            <p:cNvPr id="101" name="TextBox 25">
              <a:extLst>
                <a:ext uri="{FF2B5EF4-FFF2-40B4-BE49-F238E27FC236}">
                  <a16:creationId xmlns:a16="http://schemas.microsoft.com/office/drawing/2014/main" xmlns="" id="{4FAD5B5F-117C-4A73-B70D-A52D617800C3}"/>
                </a:ext>
              </a:extLst>
            </p:cNvPr>
            <p:cNvSpPr txBox="1"/>
            <p:nvPr/>
          </p:nvSpPr>
          <p:spPr>
            <a:xfrm>
              <a:off x="3493619" y="2140133"/>
              <a:ext cx="4956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Git:</a:t>
              </a:r>
              <a:r>
                <a:rPr lang="en-US" sz="1400" dirty="0"/>
                <a:t>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xmlns="" id="{95603608-C33E-4EF4-9706-34825DB56DB8}"/>
                </a:ext>
              </a:extLst>
            </p:cNvPr>
            <p:cNvSpPr/>
            <p:nvPr/>
          </p:nvSpPr>
          <p:spPr>
            <a:xfrm>
              <a:off x="2832929" y="2447910"/>
              <a:ext cx="1554190" cy="20621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 smtClean="0"/>
                <a:t>Version </a:t>
              </a:r>
              <a:r>
                <a:rPr lang="en-US" sz="1600" dirty="0"/>
                <a:t>control system to manage code changes and facilitate collaboration between </a:t>
              </a:r>
              <a:r>
                <a:rPr lang="en-US" sz="1600" dirty="0" smtClean="0"/>
                <a:t>developers.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03" name="Group 47">
            <a:extLst>
              <a:ext uri="{FF2B5EF4-FFF2-40B4-BE49-F238E27FC236}">
                <a16:creationId xmlns:a16="http://schemas.microsoft.com/office/drawing/2014/main" xmlns="" id="{CA46AD46-F9A3-4B22-8F85-6A2ED232BE45}"/>
              </a:ext>
            </a:extLst>
          </p:cNvPr>
          <p:cNvGrpSpPr/>
          <p:nvPr/>
        </p:nvGrpSpPr>
        <p:grpSpPr>
          <a:xfrm>
            <a:off x="7243864" y="2819766"/>
            <a:ext cx="1707519" cy="3329465"/>
            <a:chOff x="6663046" y="2161770"/>
            <a:chExt cx="1707519" cy="3329465"/>
          </a:xfrm>
        </p:grpSpPr>
        <p:sp>
          <p:nvSpPr>
            <p:cNvPr id="104" name="TextBox 27">
              <a:extLst>
                <a:ext uri="{FF2B5EF4-FFF2-40B4-BE49-F238E27FC236}">
                  <a16:creationId xmlns:a16="http://schemas.microsoft.com/office/drawing/2014/main" xmlns="" id="{F2684181-D51A-464F-8A15-4515A41722A2}"/>
                </a:ext>
              </a:extLst>
            </p:cNvPr>
            <p:cNvSpPr txBox="1"/>
            <p:nvPr/>
          </p:nvSpPr>
          <p:spPr>
            <a:xfrm>
              <a:off x="6663046" y="2161770"/>
              <a:ext cx="1707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Visual Studio Code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xmlns="" id="{99F009F5-29DA-42A1-A30C-ECAA8D7A65EA}"/>
                </a:ext>
              </a:extLst>
            </p:cNvPr>
            <p:cNvSpPr/>
            <p:nvPr/>
          </p:nvSpPr>
          <p:spPr>
            <a:xfrm>
              <a:off x="6739711" y="2475025"/>
              <a:ext cx="1554190" cy="30162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 </a:t>
              </a:r>
              <a:r>
                <a:rPr lang="en-US" sz="1600" dirty="0"/>
                <a:t>Lightweight integrated development environment (IDE) for coding, debugging, and managing projects in various languages.</a:t>
              </a:r>
              <a:endParaRPr lang="fr-FR" sz="1600" dirty="0"/>
            </a:p>
            <a:p>
              <a:r>
                <a:rPr lang="en-US" sz="1600" dirty="0"/>
                <a:t> </a:t>
              </a:r>
              <a:endParaRPr lang="fr-FR" sz="1600" dirty="0"/>
            </a:p>
            <a:p>
              <a:pPr algn="ctr"/>
              <a:r>
                <a:rPr lang="fr-FR" sz="1400" b="1" dirty="0" smtClean="0">
                  <a:solidFill>
                    <a:schemeClr val="bg2">
                      <a:lumMod val="75000"/>
                    </a:schemeClr>
                  </a:solidFill>
                </a:rPr>
                <a:t>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10" name="Rectangle à coins arrondis 109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17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1" name="Image 4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593" y="2449055"/>
            <a:ext cx="396431" cy="51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Image 4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431" y="2463055"/>
            <a:ext cx="4667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Image 4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93" y="2364687"/>
            <a:ext cx="8953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Image 43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531" y="2326476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Image 44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135" y="2209231"/>
            <a:ext cx="6191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2475709" y="1354501"/>
            <a:ext cx="6523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CM" sz="2400" b="1" dirty="0"/>
              <a:t>Software environment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268908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xmlns="" id="{20AB6750-46F0-D5FC-491D-EF376E85B347}"/>
              </a:ext>
            </a:extLst>
          </p:cNvPr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74" name="Freeform: Shape 3">
            <a:extLst>
              <a:ext uri="{FF2B5EF4-FFF2-40B4-BE49-F238E27FC236}">
                <a16:creationId xmlns:a16="http://schemas.microsoft.com/office/drawing/2014/main" xmlns="" id="{443E86A6-1C34-4C7A-A24E-DF3058EA68A1}"/>
              </a:ext>
            </a:extLst>
          </p:cNvPr>
          <p:cNvSpPr/>
          <p:nvPr/>
        </p:nvSpPr>
        <p:spPr>
          <a:xfrm>
            <a:off x="11803094" y="88153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4">
            <a:extLst>
              <a:ext uri="{FF2B5EF4-FFF2-40B4-BE49-F238E27FC236}">
                <a16:creationId xmlns:a16="http://schemas.microsoft.com/office/drawing/2014/main" xmlns="" id="{6A6C6217-2D0B-4BD3-8A13-B70D2F4D3FC4}"/>
              </a:ext>
            </a:extLst>
          </p:cNvPr>
          <p:cNvSpPr/>
          <p:nvPr/>
        </p:nvSpPr>
        <p:spPr>
          <a:xfrm>
            <a:off x="11143107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5">
            <a:extLst>
              <a:ext uri="{FF2B5EF4-FFF2-40B4-BE49-F238E27FC236}">
                <a16:creationId xmlns:a16="http://schemas.microsoft.com/office/drawing/2014/main" xmlns="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6">
            <a:extLst>
              <a:ext uri="{FF2B5EF4-FFF2-40B4-BE49-F238E27FC236}">
                <a16:creationId xmlns:a16="http://schemas.microsoft.com/office/drawing/2014/main" xmlns="" id="{63E43D3A-D858-48EC-A3B5-DA67C4FDB697}"/>
              </a:ext>
            </a:extLst>
          </p:cNvPr>
          <p:cNvSpPr/>
          <p:nvPr/>
        </p:nvSpPr>
        <p:spPr>
          <a:xfrm>
            <a:off x="1868424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">
            <a:extLst>
              <a:ext uri="{FF2B5EF4-FFF2-40B4-BE49-F238E27FC236}">
                <a16:creationId xmlns:a16="http://schemas.microsoft.com/office/drawing/2014/main" xmlns="" id="{822E4A63-C8A0-482C-8609-11E58E69B5B7}"/>
              </a:ext>
            </a:extLst>
          </p:cNvPr>
          <p:cNvSpPr/>
          <p:nvPr/>
        </p:nvSpPr>
        <p:spPr>
          <a:xfrm>
            <a:off x="3167253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8">
            <a:extLst>
              <a:ext uri="{FF2B5EF4-FFF2-40B4-BE49-F238E27FC236}">
                <a16:creationId xmlns:a16="http://schemas.microsoft.com/office/drawing/2014/main" xmlns="" id="{199B7924-7E39-4047-9708-3572AFBB47CC}"/>
              </a:ext>
            </a:extLst>
          </p:cNvPr>
          <p:cNvSpPr/>
          <p:nvPr/>
        </p:nvSpPr>
        <p:spPr>
          <a:xfrm>
            <a:off x="205169" y="47472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9">
            <a:extLst>
              <a:ext uri="{FF2B5EF4-FFF2-40B4-BE49-F238E27FC236}">
                <a16:creationId xmlns:a16="http://schemas.microsoft.com/office/drawing/2014/main" xmlns="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10">
            <a:extLst>
              <a:ext uri="{FF2B5EF4-FFF2-40B4-BE49-F238E27FC236}">
                <a16:creationId xmlns:a16="http://schemas.microsoft.com/office/drawing/2014/main" xmlns="" id="{6846DFC9-43BE-4A38-9A39-DD293513A94C}"/>
              </a:ext>
            </a:extLst>
          </p:cNvPr>
          <p:cNvSpPr/>
          <p:nvPr/>
        </p:nvSpPr>
        <p:spPr>
          <a:xfrm>
            <a:off x="154781" y="288064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11">
            <a:extLst>
              <a:ext uri="{FF2B5EF4-FFF2-40B4-BE49-F238E27FC236}">
                <a16:creationId xmlns:a16="http://schemas.microsoft.com/office/drawing/2014/main" xmlns="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12">
            <a:extLst>
              <a:ext uri="{FF2B5EF4-FFF2-40B4-BE49-F238E27FC236}">
                <a16:creationId xmlns:a16="http://schemas.microsoft.com/office/drawing/2014/main" xmlns="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13">
            <a:extLst>
              <a:ext uri="{FF2B5EF4-FFF2-40B4-BE49-F238E27FC236}">
                <a16:creationId xmlns:a16="http://schemas.microsoft.com/office/drawing/2014/main" xmlns="" id="{1C468777-36FA-4346-ACDB-8D23EDF69281}"/>
              </a:ext>
            </a:extLst>
          </p:cNvPr>
          <p:cNvSpPr/>
          <p:nvPr/>
        </p:nvSpPr>
        <p:spPr>
          <a:xfrm>
            <a:off x="9331166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5">
            <a:extLst>
              <a:ext uri="{FF2B5EF4-FFF2-40B4-BE49-F238E27FC236}">
                <a16:creationId xmlns:a16="http://schemas.microsoft.com/office/drawing/2014/main" xmlns="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xmlns="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11">
            <a:extLst>
              <a:ext uri="{FF2B5EF4-FFF2-40B4-BE49-F238E27FC236}">
                <a16:creationId xmlns:a16="http://schemas.microsoft.com/office/drawing/2014/main" xmlns="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12">
            <a:extLst>
              <a:ext uri="{FF2B5EF4-FFF2-40B4-BE49-F238E27FC236}">
                <a16:creationId xmlns:a16="http://schemas.microsoft.com/office/drawing/2014/main" xmlns="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14">
            <a:extLst>
              <a:ext uri="{FF2B5EF4-FFF2-40B4-BE49-F238E27FC236}">
                <a16:creationId xmlns:a16="http://schemas.microsoft.com/office/drawing/2014/main" xmlns="" id="{8E8B03FF-DF8E-49C6-A6EB-9172D8AD0A84}"/>
              </a:ext>
            </a:extLst>
          </p:cNvPr>
          <p:cNvSpPr/>
          <p:nvPr/>
        </p:nvSpPr>
        <p:spPr>
          <a:xfrm>
            <a:off x="1178528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185ADB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15">
            <a:extLst>
              <a:ext uri="{FF2B5EF4-FFF2-40B4-BE49-F238E27FC236}">
                <a16:creationId xmlns:a16="http://schemas.microsoft.com/office/drawing/2014/main" xmlns="" id="{07D5DC7A-7FD1-4211-AD55-A207A4BEC919}"/>
              </a:ext>
            </a:extLst>
          </p:cNvPr>
          <p:cNvSpPr/>
          <p:nvPr/>
        </p:nvSpPr>
        <p:spPr>
          <a:xfrm>
            <a:off x="3600066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16">
            <a:extLst>
              <a:ext uri="{FF2B5EF4-FFF2-40B4-BE49-F238E27FC236}">
                <a16:creationId xmlns:a16="http://schemas.microsoft.com/office/drawing/2014/main" xmlns="" id="{76F36684-1F98-4E1E-A8A7-1CFF2D3B1A5E}"/>
              </a:ext>
            </a:extLst>
          </p:cNvPr>
          <p:cNvSpPr/>
          <p:nvPr/>
        </p:nvSpPr>
        <p:spPr>
          <a:xfrm>
            <a:off x="6148192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4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4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FFC947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17">
            <a:extLst>
              <a:ext uri="{FF2B5EF4-FFF2-40B4-BE49-F238E27FC236}">
                <a16:creationId xmlns:a16="http://schemas.microsoft.com/office/drawing/2014/main" xmlns="" id="{FEBAE8B6-75FC-4C89-8800-9D3D93CC603F}"/>
              </a:ext>
            </a:extLst>
          </p:cNvPr>
          <p:cNvSpPr/>
          <p:nvPr/>
        </p:nvSpPr>
        <p:spPr>
          <a:xfrm>
            <a:off x="9003396" y="2054288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44">
            <a:extLst>
              <a:ext uri="{FF2B5EF4-FFF2-40B4-BE49-F238E27FC236}">
                <a16:creationId xmlns:a16="http://schemas.microsoft.com/office/drawing/2014/main" xmlns="" id="{2F345A39-B59D-495F-87A2-C7D10E91BCD0}"/>
              </a:ext>
            </a:extLst>
          </p:cNvPr>
          <p:cNvGrpSpPr/>
          <p:nvPr/>
        </p:nvGrpSpPr>
        <p:grpSpPr>
          <a:xfrm>
            <a:off x="1177720" y="3185706"/>
            <a:ext cx="1554190" cy="2062103"/>
            <a:chOff x="1176913" y="4313981"/>
            <a:chExt cx="1554190" cy="2062103"/>
          </a:xfrm>
        </p:grpSpPr>
        <p:sp>
          <p:nvSpPr>
            <p:cNvPr id="53" name="TextBox 1">
              <a:extLst>
                <a:ext uri="{FF2B5EF4-FFF2-40B4-BE49-F238E27FC236}">
                  <a16:creationId xmlns:a16="http://schemas.microsoft.com/office/drawing/2014/main" xmlns="" id="{9B2A314E-0AA8-49A7-AA7D-45730114BD0C}"/>
                </a:ext>
              </a:extLst>
            </p:cNvPr>
            <p:cNvSpPr txBox="1"/>
            <p:nvPr/>
          </p:nvSpPr>
          <p:spPr>
            <a:xfrm>
              <a:off x="1601192" y="4313981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HTML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xmlns="" id="{5A821B21-E09A-4FA0-99FB-21821B930DC4}"/>
                </a:ext>
              </a:extLst>
            </p:cNvPr>
            <p:cNvSpPr/>
            <p:nvPr/>
          </p:nvSpPr>
          <p:spPr>
            <a:xfrm>
              <a:off x="1176913" y="4621758"/>
              <a:ext cx="155419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Standard </a:t>
              </a:r>
              <a:r>
                <a:rPr lang="en-US" dirty="0"/>
                <a:t>markup language for structuring the content of web pages.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55" name="Group 46">
            <a:extLst>
              <a:ext uri="{FF2B5EF4-FFF2-40B4-BE49-F238E27FC236}">
                <a16:creationId xmlns:a16="http://schemas.microsoft.com/office/drawing/2014/main" xmlns="" id="{12C86613-6B20-457F-9E43-11A4BC413012}"/>
              </a:ext>
            </a:extLst>
          </p:cNvPr>
          <p:cNvGrpSpPr/>
          <p:nvPr/>
        </p:nvGrpSpPr>
        <p:grpSpPr>
          <a:xfrm>
            <a:off x="6083096" y="2908721"/>
            <a:ext cx="1554190" cy="2751010"/>
            <a:chOff x="4552860" y="3895610"/>
            <a:chExt cx="1554190" cy="2751010"/>
          </a:xfrm>
        </p:grpSpPr>
        <p:sp>
          <p:nvSpPr>
            <p:cNvPr id="56" name="TextBox 21">
              <a:extLst>
                <a:ext uri="{FF2B5EF4-FFF2-40B4-BE49-F238E27FC236}">
                  <a16:creationId xmlns:a16="http://schemas.microsoft.com/office/drawing/2014/main" xmlns="" id="{9B427566-D4DF-4204-B31F-6CEAE61A5971}"/>
                </a:ext>
              </a:extLst>
            </p:cNvPr>
            <p:cNvSpPr txBox="1"/>
            <p:nvPr/>
          </p:nvSpPr>
          <p:spPr>
            <a:xfrm>
              <a:off x="4764730" y="3895610"/>
              <a:ext cx="10058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Bootstrap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6288F451-AD38-4A6C-9CCA-32EBFA160AE2}"/>
                </a:ext>
              </a:extLst>
            </p:cNvPr>
            <p:cNvSpPr/>
            <p:nvPr/>
          </p:nvSpPr>
          <p:spPr>
            <a:xfrm>
              <a:off x="4552860" y="4061297"/>
              <a:ext cx="1554190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CSS </a:t>
              </a:r>
              <a:r>
                <a:rPr lang="en-US" dirty="0"/>
                <a:t>framework for designing responsive and attractive web interfaces quickly with pre-built </a:t>
              </a:r>
              <a:r>
                <a:rPr lang="en-US" dirty="0" smtClean="0"/>
                <a:t>components.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45">
            <a:extLst>
              <a:ext uri="{FF2B5EF4-FFF2-40B4-BE49-F238E27FC236}">
                <a16:creationId xmlns:a16="http://schemas.microsoft.com/office/drawing/2014/main" xmlns="" id="{3DF71FE6-319D-4F7D-9729-21BC6DF8731C}"/>
              </a:ext>
            </a:extLst>
          </p:cNvPr>
          <p:cNvGrpSpPr/>
          <p:nvPr/>
        </p:nvGrpSpPr>
        <p:grpSpPr>
          <a:xfrm>
            <a:off x="3560959" y="3166656"/>
            <a:ext cx="1554190" cy="1785105"/>
            <a:chOff x="2832929" y="2140133"/>
            <a:chExt cx="1554190" cy="1785105"/>
          </a:xfrm>
        </p:grpSpPr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xmlns="" id="{4FAD5B5F-117C-4A73-B70D-A52D617800C3}"/>
                </a:ext>
              </a:extLst>
            </p:cNvPr>
            <p:cNvSpPr txBox="1"/>
            <p:nvPr/>
          </p:nvSpPr>
          <p:spPr>
            <a:xfrm>
              <a:off x="3342166" y="2140133"/>
              <a:ext cx="5373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CSS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xmlns="" id="{95603608-C33E-4EF4-9706-34825DB56DB8}"/>
                </a:ext>
              </a:extLst>
            </p:cNvPr>
            <p:cNvSpPr/>
            <p:nvPr/>
          </p:nvSpPr>
          <p:spPr>
            <a:xfrm>
              <a:off x="2832929" y="2447910"/>
              <a:ext cx="155419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Cascading </a:t>
              </a:r>
              <a:r>
                <a:rPr lang="en-US" dirty="0"/>
                <a:t>Style Sheets to visually style and arrange web pages.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64" name="Group 47">
            <a:extLst>
              <a:ext uri="{FF2B5EF4-FFF2-40B4-BE49-F238E27FC236}">
                <a16:creationId xmlns:a16="http://schemas.microsoft.com/office/drawing/2014/main" xmlns="" id="{CA46AD46-F9A3-4B22-8F85-6A2ED232BE45}"/>
              </a:ext>
            </a:extLst>
          </p:cNvPr>
          <p:cNvGrpSpPr/>
          <p:nvPr/>
        </p:nvGrpSpPr>
        <p:grpSpPr>
          <a:xfrm>
            <a:off x="9001781" y="2944513"/>
            <a:ext cx="1554190" cy="2616101"/>
            <a:chOff x="6146577" y="2140133"/>
            <a:chExt cx="1554190" cy="2616101"/>
          </a:xfrm>
        </p:grpSpPr>
        <p:sp>
          <p:nvSpPr>
            <p:cNvPr id="65" name="TextBox 27">
              <a:extLst>
                <a:ext uri="{FF2B5EF4-FFF2-40B4-BE49-F238E27FC236}">
                  <a16:creationId xmlns:a16="http://schemas.microsoft.com/office/drawing/2014/main" xmlns="" id="{F2684181-D51A-464F-8A15-4515A41722A2}"/>
                </a:ext>
              </a:extLst>
            </p:cNvPr>
            <p:cNvSpPr txBox="1"/>
            <p:nvPr/>
          </p:nvSpPr>
          <p:spPr>
            <a:xfrm>
              <a:off x="6436748" y="2140133"/>
              <a:ext cx="975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JavaScript</a:t>
              </a:r>
              <a:r>
                <a:rPr lang="en-US" sz="1400" dirty="0"/>
                <a:t>: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xmlns="" id="{99F009F5-29DA-42A1-A30C-ECAA8D7A65EA}"/>
                </a:ext>
              </a:extLst>
            </p:cNvPr>
            <p:cNvSpPr/>
            <p:nvPr/>
          </p:nvSpPr>
          <p:spPr>
            <a:xfrm>
              <a:off x="6146577" y="2447910"/>
              <a:ext cx="155419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 </a:t>
              </a:r>
              <a:r>
                <a:rPr lang="en-US" dirty="0"/>
                <a:t>Programming language for adding dynamic interactions and functionality to web pages.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70" name="Rectangle à coins arrondis 69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1" name="Image 7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351" y="25502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Image 7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515" y="2480596"/>
            <a:ext cx="4476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Image 7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261" y="2385346"/>
            <a:ext cx="5810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Image 84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766" y="2263831"/>
            <a:ext cx="657225" cy="4881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/>
          <p:cNvSpPr txBox="1"/>
          <p:nvPr/>
        </p:nvSpPr>
        <p:spPr>
          <a:xfrm>
            <a:off x="689572" y="1076262"/>
            <a:ext cx="2940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endParaRPr lang="fr-FR" dirty="0"/>
          </a:p>
          <a:p>
            <a:r>
              <a:rPr lang="fr-CM" b="1" dirty="0"/>
              <a:t>FRONT-END TECHNOLOGIES</a:t>
            </a:r>
            <a:endParaRPr lang="fr-FR" b="1" dirty="0"/>
          </a:p>
        </p:txBody>
      </p:sp>
      <p:sp>
        <p:nvSpPr>
          <p:cNvPr id="4" name="Ellipse 3"/>
          <p:cNvSpPr/>
          <p:nvPr/>
        </p:nvSpPr>
        <p:spPr>
          <a:xfrm>
            <a:off x="3694269" y="788653"/>
            <a:ext cx="4418051" cy="610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4385870" y="245265"/>
            <a:ext cx="2935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lvl="0"/>
            <a:r>
              <a:rPr lang="en-US" b="1" u="sng" dirty="0"/>
              <a:t>Web technologies used</a:t>
            </a:r>
            <a:endParaRPr lang="fr-FR" b="1" u="sng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487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xmlns="" id="{20AB6750-46F0-D5FC-491D-EF376E85B347}"/>
              </a:ext>
            </a:extLst>
          </p:cNvPr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74" name="Freeform: Shape 3">
            <a:extLst>
              <a:ext uri="{FF2B5EF4-FFF2-40B4-BE49-F238E27FC236}">
                <a16:creationId xmlns:a16="http://schemas.microsoft.com/office/drawing/2014/main" xmlns="" id="{443E86A6-1C34-4C7A-A24E-DF3058EA68A1}"/>
              </a:ext>
            </a:extLst>
          </p:cNvPr>
          <p:cNvSpPr/>
          <p:nvPr/>
        </p:nvSpPr>
        <p:spPr>
          <a:xfrm>
            <a:off x="11803094" y="88153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4">
            <a:extLst>
              <a:ext uri="{FF2B5EF4-FFF2-40B4-BE49-F238E27FC236}">
                <a16:creationId xmlns:a16="http://schemas.microsoft.com/office/drawing/2014/main" xmlns="" id="{6A6C6217-2D0B-4BD3-8A13-B70D2F4D3FC4}"/>
              </a:ext>
            </a:extLst>
          </p:cNvPr>
          <p:cNvSpPr/>
          <p:nvPr/>
        </p:nvSpPr>
        <p:spPr>
          <a:xfrm>
            <a:off x="11143107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5">
            <a:extLst>
              <a:ext uri="{FF2B5EF4-FFF2-40B4-BE49-F238E27FC236}">
                <a16:creationId xmlns:a16="http://schemas.microsoft.com/office/drawing/2014/main" xmlns="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6">
            <a:extLst>
              <a:ext uri="{FF2B5EF4-FFF2-40B4-BE49-F238E27FC236}">
                <a16:creationId xmlns:a16="http://schemas.microsoft.com/office/drawing/2014/main" xmlns="" id="{63E43D3A-D858-48EC-A3B5-DA67C4FDB697}"/>
              </a:ext>
            </a:extLst>
          </p:cNvPr>
          <p:cNvSpPr/>
          <p:nvPr/>
        </p:nvSpPr>
        <p:spPr>
          <a:xfrm>
            <a:off x="1868424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">
            <a:extLst>
              <a:ext uri="{FF2B5EF4-FFF2-40B4-BE49-F238E27FC236}">
                <a16:creationId xmlns:a16="http://schemas.microsoft.com/office/drawing/2014/main" xmlns="" id="{822E4A63-C8A0-482C-8609-11E58E69B5B7}"/>
              </a:ext>
            </a:extLst>
          </p:cNvPr>
          <p:cNvSpPr/>
          <p:nvPr/>
        </p:nvSpPr>
        <p:spPr>
          <a:xfrm>
            <a:off x="3167253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8">
            <a:extLst>
              <a:ext uri="{FF2B5EF4-FFF2-40B4-BE49-F238E27FC236}">
                <a16:creationId xmlns:a16="http://schemas.microsoft.com/office/drawing/2014/main" xmlns="" id="{199B7924-7E39-4047-9708-3572AFBB47CC}"/>
              </a:ext>
            </a:extLst>
          </p:cNvPr>
          <p:cNvSpPr/>
          <p:nvPr/>
        </p:nvSpPr>
        <p:spPr>
          <a:xfrm>
            <a:off x="205169" y="47472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9">
            <a:extLst>
              <a:ext uri="{FF2B5EF4-FFF2-40B4-BE49-F238E27FC236}">
                <a16:creationId xmlns:a16="http://schemas.microsoft.com/office/drawing/2014/main" xmlns="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10">
            <a:extLst>
              <a:ext uri="{FF2B5EF4-FFF2-40B4-BE49-F238E27FC236}">
                <a16:creationId xmlns:a16="http://schemas.microsoft.com/office/drawing/2014/main" xmlns="" id="{6846DFC9-43BE-4A38-9A39-DD293513A94C}"/>
              </a:ext>
            </a:extLst>
          </p:cNvPr>
          <p:cNvSpPr/>
          <p:nvPr/>
        </p:nvSpPr>
        <p:spPr>
          <a:xfrm>
            <a:off x="154781" y="288064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11">
            <a:extLst>
              <a:ext uri="{FF2B5EF4-FFF2-40B4-BE49-F238E27FC236}">
                <a16:creationId xmlns:a16="http://schemas.microsoft.com/office/drawing/2014/main" xmlns="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12">
            <a:extLst>
              <a:ext uri="{FF2B5EF4-FFF2-40B4-BE49-F238E27FC236}">
                <a16:creationId xmlns:a16="http://schemas.microsoft.com/office/drawing/2014/main" xmlns="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13">
            <a:extLst>
              <a:ext uri="{FF2B5EF4-FFF2-40B4-BE49-F238E27FC236}">
                <a16:creationId xmlns:a16="http://schemas.microsoft.com/office/drawing/2014/main" xmlns="" id="{1C468777-36FA-4346-ACDB-8D23EDF69281}"/>
              </a:ext>
            </a:extLst>
          </p:cNvPr>
          <p:cNvSpPr/>
          <p:nvPr/>
        </p:nvSpPr>
        <p:spPr>
          <a:xfrm>
            <a:off x="9331166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5">
            <a:extLst>
              <a:ext uri="{FF2B5EF4-FFF2-40B4-BE49-F238E27FC236}">
                <a16:creationId xmlns:a16="http://schemas.microsoft.com/office/drawing/2014/main" xmlns="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xmlns="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11">
            <a:extLst>
              <a:ext uri="{FF2B5EF4-FFF2-40B4-BE49-F238E27FC236}">
                <a16:creationId xmlns:a16="http://schemas.microsoft.com/office/drawing/2014/main" xmlns="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12">
            <a:extLst>
              <a:ext uri="{FF2B5EF4-FFF2-40B4-BE49-F238E27FC236}">
                <a16:creationId xmlns:a16="http://schemas.microsoft.com/office/drawing/2014/main" xmlns="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14">
            <a:extLst>
              <a:ext uri="{FF2B5EF4-FFF2-40B4-BE49-F238E27FC236}">
                <a16:creationId xmlns:a16="http://schemas.microsoft.com/office/drawing/2014/main" xmlns="" id="{8E8B03FF-DF8E-49C6-A6EB-9172D8AD0A84}"/>
              </a:ext>
            </a:extLst>
          </p:cNvPr>
          <p:cNvSpPr/>
          <p:nvPr/>
        </p:nvSpPr>
        <p:spPr>
          <a:xfrm>
            <a:off x="1178528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185ADB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15">
            <a:extLst>
              <a:ext uri="{FF2B5EF4-FFF2-40B4-BE49-F238E27FC236}">
                <a16:creationId xmlns:a16="http://schemas.microsoft.com/office/drawing/2014/main" xmlns="" id="{07D5DC7A-7FD1-4211-AD55-A207A4BEC919}"/>
              </a:ext>
            </a:extLst>
          </p:cNvPr>
          <p:cNvSpPr/>
          <p:nvPr/>
        </p:nvSpPr>
        <p:spPr>
          <a:xfrm>
            <a:off x="3600066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16">
            <a:extLst>
              <a:ext uri="{FF2B5EF4-FFF2-40B4-BE49-F238E27FC236}">
                <a16:creationId xmlns:a16="http://schemas.microsoft.com/office/drawing/2014/main" xmlns="" id="{76F36684-1F98-4E1E-A8A7-1CFF2D3B1A5E}"/>
              </a:ext>
            </a:extLst>
          </p:cNvPr>
          <p:cNvSpPr/>
          <p:nvPr/>
        </p:nvSpPr>
        <p:spPr>
          <a:xfrm>
            <a:off x="6148192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4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4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FFC947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44">
            <a:extLst>
              <a:ext uri="{FF2B5EF4-FFF2-40B4-BE49-F238E27FC236}">
                <a16:creationId xmlns:a16="http://schemas.microsoft.com/office/drawing/2014/main" xmlns="" id="{2F345A39-B59D-495F-87A2-C7D10E91BCD0}"/>
              </a:ext>
            </a:extLst>
          </p:cNvPr>
          <p:cNvGrpSpPr/>
          <p:nvPr/>
        </p:nvGrpSpPr>
        <p:grpSpPr>
          <a:xfrm>
            <a:off x="1166891" y="2910630"/>
            <a:ext cx="1554190" cy="2616101"/>
            <a:chOff x="1176913" y="4313981"/>
            <a:chExt cx="1554190" cy="2616101"/>
          </a:xfrm>
        </p:grpSpPr>
        <p:sp>
          <p:nvSpPr>
            <p:cNvPr id="53" name="TextBox 1">
              <a:extLst>
                <a:ext uri="{FF2B5EF4-FFF2-40B4-BE49-F238E27FC236}">
                  <a16:creationId xmlns:a16="http://schemas.microsoft.com/office/drawing/2014/main" xmlns="" id="{9B2A314E-0AA8-49A7-AA7D-45730114BD0C}"/>
                </a:ext>
              </a:extLst>
            </p:cNvPr>
            <p:cNvSpPr txBox="1"/>
            <p:nvPr/>
          </p:nvSpPr>
          <p:spPr>
            <a:xfrm>
              <a:off x="1536333" y="4313981"/>
              <a:ext cx="836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Django</a:t>
              </a:r>
              <a:r>
                <a:rPr lang="en-US" sz="1400" dirty="0"/>
                <a:t>: </a:t>
              </a:r>
              <a:r>
                <a:rPr lang="en-US" sz="1400" dirty="0" smtClean="0"/>
                <a:t> 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xmlns="" id="{5A821B21-E09A-4FA0-99FB-21821B930DC4}"/>
                </a:ext>
              </a:extLst>
            </p:cNvPr>
            <p:cNvSpPr/>
            <p:nvPr/>
          </p:nvSpPr>
          <p:spPr>
            <a:xfrm>
              <a:off x="1176913" y="4621758"/>
              <a:ext cx="155419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/>
                <a:t>Django</a:t>
              </a:r>
              <a:r>
                <a:rPr lang="en-US" dirty="0"/>
                <a:t>: Python web framework for developing secure and scalable web applications </a:t>
              </a:r>
              <a:r>
                <a:rPr lang="en-US" dirty="0" smtClean="0"/>
                <a:t>quickly.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55" name="Group 46">
            <a:extLst>
              <a:ext uri="{FF2B5EF4-FFF2-40B4-BE49-F238E27FC236}">
                <a16:creationId xmlns:a16="http://schemas.microsoft.com/office/drawing/2014/main" xmlns="" id="{12C86613-6B20-457F-9E43-11A4BC413012}"/>
              </a:ext>
            </a:extLst>
          </p:cNvPr>
          <p:cNvGrpSpPr/>
          <p:nvPr/>
        </p:nvGrpSpPr>
        <p:grpSpPr>
          <a:xfrm>
            <a:off x="6146577" y="2908720"/>
            <a:ext cx="1554190" cy="2621700"/>
            <a:chOff x="4616341" y="3895609"/>
            <a:chExt cx="1554190" cy="2621700"/>
          </a:xfrm>
        </p:grpSpPr>
        <p:sp>
          <p:nvSpPr>
            <p:cNvPr id="56" name="TextBox 21">
              <a:extLst>
                <a:ext uri="{FF2B5EF4-FFF2-40B4-BE49-F238E27FC236}">
                  <a16:creationId xmlns:a16="http://schemas.microsoft.com/office/drawing/2014/main" xmlns="" id="{9B427566-D4DF-4204-B31F-6CEAE61A5971}"/>
                </a:ext>
              </a:extLst>
            </p:cNvPr>
            <p:cNvSpPr txBox="1"/>
            <p:nvPr/>
          </p:nvSpPr>
          <p:spPr>
            <a:xfrm>
              <a:off x="4965520" y="3895609"/>
              <a:ext cx="847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400" b="1" dirty="0"/>
                <a:t>Python</a:t>
              </a:r>
              <a:r>
                <a:rPr lang="fr-FR" sz="1400" dirty="0"/>
                <a:t> </a:t>
              </a:r>
              <a:r>
                <a:rPr lang="en-US" sz="1400" dirty="0" smtClean="0"/>
                <a:t>: </a:t>
              </a:r>
              <a:endParaRPr 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6288F451-AD38-4A6C-9CCA-32EBFA160AE2}"/>
                </a:ext>
              </a:extLst>
            </p:cNvPr>
            <p:cNvSpPr/>
            <p:nvPr/>
          </p:nvSpPr>
          <p:spPr>
            <a:xfrm>
              <a:off x="4616341" y="4208985"/>
              <a:ext cx="1554190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Versatile programming language used for web development,automation,data science and artificial intelligence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45">
            <a:extLst>
              <a:ext uri="{FF2B5EF4-FFF2-40B4-BE49-F238E27FC236}">
                <a16:creationId xmlns:a16="http://schemas.microsoft.com/office/drawing/2014/main" xmlns="" id="{3DF71FE6-319D-4F7D-9729-21BC6DF8731C}"/>
              </a:ext>
            </a:extLst>
          </p:cNvPr>
          <p:cNvGrpSpPr/>
          <p:nvPr/>
        </p:nvGrpSpPr>
        <p:grpSpPr>
          <a:xfrm>
            <a:off x="3536585" y="2766631"/>
            <a:ext cx="1554190" cy="2881301"/>
            <a:chOff x="2808555" y="1740108"/>
            <a:chExt cx="1554190" cy="2881301"/>
          </a:xfrm>
        </p:grpSpPr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xmlns="" id="{4FAD5B5F-117C-4A73-B70D-A52D617800C3}"/>
                </a:ext>
              </a:extLst>
            </p:cNvPr>
            <p:cNvSpPr txBox="1"/>
            <p:nvPr/>
          </p:nvSpPr>
          <p:spPr>
            <a:xfrm>
              <a:off x="3305702" y="1740108"/>
              <a:ext cx="7196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 err="1"/>
                <a:t>Twilio</a:t>
              </a:r>
              <a:r>
                <a:rPr lang="en-US" sz="1400" dirty="0"/>
                <a:t>:</a:t>
              </a:r>
              <a:r>
                <a:rPr lang="en-US" sz="1400" dirty="0" smtClean="0"/>
                <a:t>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xmlns="" id="{95603608-C33E-4EF4-9706-34825DB56DB8}"/>
                </a:ext>
              </a:extLst>
            </p:cNvPr>
            <p:cNvSpPr/>
            <p:nvPr/>
          </p:nvSpPr>
          <p:spPr>
            <a:xfrm>
              <a:off x="2808555" y="2036086"/>
              <a:ext cx="1554190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en-US" dirty="0"/>
                <a:t>API communication platform to integrate messaging, calling, and video features into applications.</a:t>
              </a:r>
              <a:r>
                <a:rPr lang="en-US" dirty="0" smtClean="0"/>
                <a:t>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70" name="Rectangle à coins arrondis 69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9" name="Image 3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190" y="2528338"/>
            <a:ext cx="857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Image 3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714" y="2226928"/>
            <a:ext cx="5619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Image 40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004" y="2197537"/>
            <a:ext cx="774896" cy="55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63337" y="1199948"/>
            <a:ext cx="38325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M" b="1" dirty="0"/>
              <a:t>BACK-END TECHNOLOGIES</a:t>
            </a:r>
            <a:endParaRPr lang="fr-FR" b="1" dirty="0"/>
          </a:p>
          <a:p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506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53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67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xmlns="" id="{95504EEF-9FFF-4C9F-9F16-51EAA47DED1B}"/>
              </a:ext>
            </a:extLst>
          </p:cNvPr>
          <p:cNvGrpSpPr/>
          <p:nvPr/>
        </p:nvGrpSpPr>
        <p:grpSpPr>
          <a:xfrm>
            <a:off x="641007" y="187569"/>
            <a:ext cx="11048999" cy="1263479"/>
            <a:chOff x="413054" y="135497"/>
            <a:chExt cx="12894425" cy="1276313"/>
          </a:xfrm>
          <a:solidFill>
            <a:srgbClr val="00B050"/>
          </a:solidFill>
        </p:grpSpPr>
        <p:sp>
          <p:nvSpPr>
            <p:cNvPr id="7" name="Signalisation droite 5">
              <a:extLst>
                <a:ext uri="{FF2B5EF4-FFF2-40B4-BE49-F238E27FC236}">
                  <a16:creationId xmlns:a16="http://schemas.microsoft.com/office/drawing/2014/main" xmlns="" id="{BE092505-8B09-B74D-AB5D-F737400CEEDB}"/>
                </a:ext>
              </a:extLst>
            </p:cNvPr>
            <p:cNvSpPr/>
            <p:nvPr/>
          </p:nvSpPr>
          <p:spPr>
            <a:xfrm>
              <a:off x="1675627" y="135497"/>
              <a:ext cx="11631852" cy="947184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DEMONSTRATION</a:t>
              </a:r>
              <a:endParaRPr lang="fr-FR" sz="4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Larme 7">
              <a:extLst>
                <a:ext uri="{FF2B5EF4-FFF2-40B4-BE49-F238E27FC236}">
                  <a16:creationId xmlns:a16="http://schemas.microsoft.com/office/drawing/2014/main" xmlns="" id="{D9D66D36-2DC1-4453-91F8-DFC07EE7998C}"/>
                </a:ext>
              </a:extLst>
            </p:cNvPr>
            <p:cNvSpPr/>
            <p:nvPr/>
          </p:nvSpPr>
          <p:spPr>
            <a:xfrm>
              <a:off x="413054" y="184082"/>
              <a:ext cx="1262573" cy="1227728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>
                  <a:solidFill>
                    <a:prstClr val="white"/>
                  </a:solidFill>
                </a:rPr>
                <a:t>6</a:t>
              </a:r>
            </a:p>
          </p:txBody>
        </p:sp>
      </p:grpSp>
      <p:sp>
        <p:nvSpPr>
          <p:cNvPr id="9" name="Rectangle à coins arrondis 8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19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444" y="2650764"/>
            <a:ext cx="3908660" cy="21212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658" y="1305242"/>
            <a:ext cx="5152571" cy="55527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1087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68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95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/>
          <p:cNvGrpSpPr/>
          <p:nvPr/>
        </p:nvGrpSpPr>
        <p:grpSpPr>
          <a:xfrm>
            <a:off x="10658" y="1237077"/>
            <a:ext cx="11814629" cy="5108874"/>
            <a:chOff x="0" y="1166368"/>
            <a:chExt cx="11034310" cy="5108874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xmlns="" id="{210FCF71-D285-4E37-BC21-AFEA53110DA1}"/>
                </a:ext>
              </a:extLst>
            </p:cNvPr>
            <p:cNvGrpSpPr/>
            <p:nvPr/>
          </p:nvGrpSpPr>
          <p:grpSpPr>
            <a:xfrm>
              <a:off x="0" y="1166368"/>
              <a:ext cx="11034310" cy="5108874"/>
              <a:chOff x="1689119" y="1956891"/>
              <a:chExt cx="11034310" cy="5108874"/>
            </a:xfrm>
          </p:grpSpPr>
          <p:sp>
            <p:nvSpPr>
              <p:cNvPr id="3" name="Arc 2">
                <a:extLst>
                  <a:ext uri="{FF2B5EF4-FFF2-40B4-BE49-F238E27FC236}">
                    <a16:creationId xmlns:a16="http://schemas.microsoft.com/office/drawing/2014/main" xmlns="" id="{6058C832-C791-427E-A3A3-8C7AFAEF1C1C}"/>
                  </a:ext>
                </a:extLst>
              </p:cNvPr>
              <p:cNvSpPr/>
              <p:nvPr/>
            </p:nvSpPr>
            <p:spPr>
              <a:xfrm rot="1589589">
                <a:off x="1689119" y="1956891"/>
                <a:ext cx="3805220" cy="5108874"/>
              </a:xfrm>
              <a:prstGeom prst="arc">
                <a:avLst>
                  <a:gd name="adj1" fmla="val 16200000"/>
                  <a:gd name="adj2" fmla="val 1268457"/>
                </a:avLst>
              </a:prstGeom>
              <a:ln>
                <a:solidFill>
                  <a:srgbClr val="289C94"/>
                </a:solidFill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4" name="Groupe 3">
                <a:extLst>
                  <a:ext uri="{FF2B5EF4-FFF2-40B4-BE49-F238E27FC236}">
                    <a16:creationId xmlns:a16="http://schemas.microsoft.com/office/drawing/2014/main" xmlns="" id="{D38B505D-B7B7-4681-AF0F-195B6AA09FAF}"/>
                  </a:ext>
                </a:extLst>
              </p:cNvPr>
              <p:cNvGrpSpPr/>
              <p:nvPr/>
            </p:nvGrpSpPr>
            <p:grpSpPr>
              <a:xfrm>
                <a:off x="4631319" y="2019892"/>
                <a:ext cx="387414" cy="386085"/>
                <a:chOff x="1646244" y="1665396"/>
                <a:chExt cx="387414" cy="386085"/>
              </a:xfrm>
            </p:grpSpPr>
            <p:sp>
              <p:nvSpPr>
                <p:cNvPr id="13" name="Organigramme : Connecteur 12">
                  <a:extLst>
                    <a:ext uri="{FF2B5EF4-FFF2-40B4-BE49-F238E27FC236}">
                      <a16:creationId xmlns:a16="http://schemas.microsoft.com/office/drawing/2014/main" xmlns="" id="{E83133CC-0E8A-40E9-B522-9618EF811678}"/>
                    </a:ext>
                  </a:extLst>
                </p:cNvPr>
                <p:cNvSpPr/>
                <p:nvPr/>
              </p:nvSpPr>
              <p:spPr>
                <a:xfrm>
                  <a:off x="1646244" y="1665396"/>
                  <a:ext cx="387414" cy="386085"/>
                </a:xfrm>
                <a:prstGeom prst="flowChartConnector">
                  <a:avLst/>
                </a:prstGeom>
                <a:solidFill>
                  <a:srgbClr val="00B0F0"/>
                </a:solidFill>
                <a:ln>
                  <a:solidFill>
                    <a:srgbClr val="0070C0"/>
                  </a:solidFill>
                </a:ln>
                <a:effectLst>
                  <a:reflection blurRad="6350" stA="52000" endA="300" endPos="35000" dir="5400000" sy="-100000" algn="bl" rotWithShape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Organigramme : Connecteur 13">
                  <a:extLst>
                    <a:ext uri="{FF2B5EF4-FFF2-40B4-BE49-F238E27FC236}">
                      <a16:creationId xmlns:a16="http://schemas.microsoft.com/office/drawing/2014/main" xmlns="" id="{0FAB87E5-82BE-42D1-9DC3-5A2971184848}"/>
                    </a:ext>
                  </a:extLst>
                </p:cNvPr>
                <p:cNvSpPr/>
                <p:nvPr/>
              </p:nvSpPr>
              <p:spPr>
                <a:xfrm>
                  <a:off x="1810100" y="1814884"/>
                  <a:ext cx="130629" cy="150572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xmlns="" id="{CC3B80B4-8E80-4F7A-BA8C-1EC89C696395}"/>
                  </a:ext>
                </a:extLst>
              </p:cNvPr>
              <p:cNvGrpSpPr/>
              <p:nvPr/>
            </p:nvGrpSpPr>
            <p:grpSpPr>
              <a:xfrm>
                <a:off x="5513811" y="3627566"/>
                <a:ext cx="7209618" cy="884323"/>
                <a:chOff x="1607380" y="3693925"/>
                <a:chExt cx="7209618" cy="884323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xmlns="" id="{52BEAED6-62CE-4008-AE5E-0CAD42051DFF}"/>
                    </a:ext>
                  </a:extLst>
                </p:cNvPr>
                <p:cNvSpPr/>
                <p:nvPr/>
              </p:nvSpPr>
              <p:spPr>
                <a:xfrm>
                  <a:off x="2068418" y="3693925"/>
                  <a:ext cx="6748580" cy="8843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/>
                  <a:endParaRPr lang="fr-FR" sz="2400" dirty="0"/>
                </a:p>
              </p:txBody>
            </p:sp>
            <p:grpSp>
              <p:nvGrpSpPr>
                <p:cNvPr id="10" name="Groupe 9">
                  <a:extLst>
                    <a:ext uri="{FF2B5EF4-FFF2-40B4-BE49-F238E27FC236}">
                      <a16:creationId xmlns:a16="http://schemas.microsoft.com/office/drawing/2014/main" xmlns="" id="{91B46995-7791-43D4-A3E3-2905F94791D6}"/>
                    </a:ext>
                  </a:extLst>
                </p:cNvPr>
                <p:cNvGrpSpPr/>
                <p:nvPr/>
              </p:nvGrpSpPr>
              <p:grpSpPr>
                <a:xfrm>
                  <a:off x="1607380" y="4015004"/>
                  <a:ext cx="387414" cy="386085"/>
                  <a:chOff x="1804639" y="2373356"/>
                  <a:chExt cx="387414" cy="386085"/>
                </a:xfrm>
              </p:grpSpPr>
              <p:sp>
                <p:nvSpPr>
                  <p:cNvPr id="11" name="Organigramme : Connecteur 10">
                    <a:extLst>
                      <a:ext uri="{FF2B5EF4-FFF2-40B4-BE49-F238E27FC236}">
                        <a16:creationId xmlns:a16="http://schemas.microsoft.com/office/drawing/2014/main" xmlns="" id="{EF69D5D4-EC75-46C8-AD7C-5D7BD69E4681}"/>
                      </a:ext>
                    </a:extLst>
                  </p:cNvPr>
                  <p:cNvSpPr/>
                  <p:nvPr/>
                </p:nvSpPr>
                <p:spPr>
                  <a:xfrm>
                    <a:off x="1804639" y="2373356"/>
                    <a:ext cx="387414" cy="386085"/>
                  </a:xfrm>
                  <a:prstGeom prst="flowChartConnector">
                    <a:avLst/>
                  </a:prstGeom>
                  <a:solidFill>
                    <a:srgbClr val="00B0F0"/>
                  </a:solidFill>
                  <a:ln>
                    <a:solidFill>
                      <a:srgbClr val="0070C0"/>
                    </a:solidFill>
                  </a:ln>
                  <a:effectLst>
                    <a:reflection blurRad="6350" stA="52000" endA="300" endPos="35000" dir="5400000" sy="-100000" algn="bl" rotWithShape="0"/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800" b="1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Organigramme : Connecteur 11">
                    <a:extLst>
                      <a:ext uri="{FF2B5EF4-FFF2-40B4-BE49-F238E27FC236}">
                        <a16:creationId xmlns:a16="http://schemas.microsoft.com/office/drawing/2014/main" xmlns="" id="{BFC445D6-6D1B-4B09-AAE0-415AD92B45FE}"/>
                      </a:ext>
                    </a:extLst>
                  </p:cNvPr>
                  <p:cNvSpPr/>
                  <p:nvPr/>
                </p:nvSpPr>
                <p:spPr>
                  <a:xfrm>
                    <a:off x="1878263" y="2481065"/>
                    <a:ext cx="200177" cy="196298"/>
                  </a:xfrm>
                  <a:prstGeom prst="flowChartConnector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xmlns="" id="{B3D2721D-B241-4181-89E0-5F9CFCAED2FF}"/>
                  </a:ext>
                </a:extLst>
              </p:cNvPr>
              <p:cNvGrpSpPr/>
              <p:nvPr/>
            </p:nvGrpSpPr>
            <p:grpSpPr>
              <a:xfrm>
                <a:off x="4968002" y="5496833"/>
                <a:ext cx="387414" cy="386085"/>
                <a:chOff x="1311006" y="2524622"/>
                <a:chExt cx="387414" cy="386085"/>
              </a:xfrm>
            </p:grpSpPr>
            <p:sp>
              <p:nvSpPr>
                <p:cNvPr id="7" name="Organigramme : Connecteur 6">
                  <a:extLst>
                    <a:ext uri="{FF2B5EF4-FFF2-40B4-BE49-F238E27FC236}">
                      <a16:creationId xmlns:a16="http://schemas.microsoft.com/office/drawing/2014/main" xmlns="" id="{9487FF60-E95B-4965-8850-7C6EDA8E6056}"/>
                    </a:ext>
                  </a:extLst>
                </p:cNvPr>
                <p:cNvSpPr/>
                <p:nvPr/>
              </p:nvSpPr>
              <p:spPr>
                <a:xfrm>
                  <a:off x="1311006" y="2524622"/>
                  <a:ext cx="387414" cy="386085"/>
                </a:xfrm>
                <a:prstGeom prst="flowChartConnector">
                  <a:avLst/>
                </a:prstGeom>
                <a:solidFill>
                  <a:srgbClr val="00B0F0"/>
                </a:solidFill>
                <a:ln>
                  <a:solidFill>
                    <a:srgbClr val="0070C0"/>
                  </a:solidFill>
                </a:ln>
                <a:effectLst>
                  <a:reflection blurRad="6350" stA="52000" endA="300" endPos="35000" dir="5400000" sy="-100000" algn="bl" rotWithShape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Organigramme : Connecteur 7">
                  <a:extLst>
                    <a:ext uri="{FF2B5EF4-FFF2-40B4-BE49-F238E27FC236}">
                      <a16:creationId xmlns:a16="http://schemas.microsoft.com/office/drawing/2014/main" xmlns="" id="{49BFF628-750D-4BF7-BE9E-409ACB29CF34}"/>
                    </a:ext>
                  </a:extLst>
                </p:cNvPr>
                <p:cNvSpPr/>
                <p:nvPr/>
              </p:nvSpPr>
              <p:spPr>
                <a:xfrm>
                  <a:off x="1407394" y="2670530"/>
                  <a:ext cx="193839" cy="145283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</p:grpSp>
        </p:grp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xmlns="" id="{75C230DD-4953-421B-BF21-C885FCD04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129" y="1333132"/>
              <a:ext cx="1956117" cy="4471008"/>
            </a:xfrm>
            <a:prstGeom prst="rect">
              <a:avLst/>
            </a:prstGeom>
          </p:spPr>
        </p:pic>
      </p:grpSp>
      <p:sp>
        <p:nvSpPr>
          <p:cNvPr id="16" name="Flèche droite à entaille 15"/>
          <p:cNvSpPr/>
          <p:nvPr/>
        </p:nvSpPr>
        <p:spPr>
          <a:xfrm>
            <a:off x="4838552" y="914749"/>
            <a:ext cx="6395505" cy="1650377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dirty="0"/>
              <a:t>Automation of monitoring sheet and identification sheet so that they can be generated and used in Word format and be consult by doctor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887096" y="281634"/>
            <a:ext cx="543098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4400" b="1" i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OUTLOOK</a:t>
            </a:r>
            <a:endParaRPr lang="fr-FR" sz="44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20" name="Flèche droite à entaille 19"/>
          <p:cNvSpPr/>
          <p:nvPr/>
        </p:nvSpPr>
        <p:spPr>
          <a:xfrm>
            <a:off x="4838552" y="2565126"/>
            <a:ext cx="6395505" cy="1401409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Integration of the call API to enable direct voice communication between medical staff members 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Flèche droite à entaille 20"/>
          <p:cNvSpPr/>
          <p:nvPr/>
        </p:nvSpPr>
        <p:spPr>
          <a:xfrm>
            <a:off x="4838552" y="4296797"/>
            <a:ext cx="6395505" cy="1401409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Improvement of the chat module to make it fully operational and provide a better user experience 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21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46" y="4970061"/>
            <a:ext cx="2967135" cy="19807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794755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72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100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493423" y="118987"/>
            <a:ext cx="77585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THANK YOU FOR YOUR KIND ATTENTION</a:t>
            </a:r>
          </a:p>
          <a:p>
            <a:pPr algn="ctr"/>
            <a:endParaRPr lang="fr-FR" sz="54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fr-FR" sz="5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1997F1F4-77D7-4486-BDE8-FCD1D8E3F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17" y="118987"/>
            <a:ext cx="1637595" cy="1239359"/>
          </a:xfrm>
          <a:prstGeom prst="rect">
            <a:avLst/>
          </a:prstGeom>
        </p:spPr>
      </p:pic>
      <p:sp>
        <p:nvSpPr>
          <p:cNvPr id="8" name="Rectangle à coins arrondis 7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22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192" y="284430"/>
            <a:ext cx="1561095" cy="107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111" y="2034757"/>
            <a:ext cx="3304162" cy="17931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30" y="1756229"/>
            <a:ext cx="5612724" cy="5210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1605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103668</TotalTime>
  <Words>893</Words>
  <Application>Microsoft Office PowerPoint</Application>
  <PresentationFormat>Grand écran</PresentationFormat>
  <Paragraphs>160</Paragraphs>
  <Slides>20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31" baseType="lpstr">
      <vt:lpstr>Algerian</vt:lpstr>
      <vt:lpstr>Arial</vt:lpstr>
      <vt:lpstr>Bahnschrift SemiLight Condensed</vt:lpstr>
      <vt:lpstr>Calibri</vt:lpstr>
      <vt:lpstr>Calibri Light</vt:lpstr>
      <vt:lpstr>Cambria</vt:lpstr>
      <vt:lpstr>Corbel</vt:lpstr>
      <vt:lpstr>Times New Roman</vt:lpstr>
      <vt:lpstr>Verdana</vt:lpstr>
      <vt:lpstr>Wingdings</vt:lpstr>
      <vt:lpstr>Thème Office</vt:lpstr>
      <vt:lpstr>WELCOME TO  MY  PRESENTATION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Regency</dc:creator>
  <cp:lastModifiedBy>LENOVO</cp:lastModifiedBy>
  <cp:revision>1433</cp:revision>
  <dcterms:created xsi:type="dcterms:W3CDTF">2018-06-15T12:42:51Z</dcterms:created>
  <dcterms:modified xsi:type="dcterms:W3CDTF">2025-06-26T21:18:04Z</dcterms:modified>
</cp:coreProperties>
</file>